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aret Bold" charset="1" panose="00000000000000000000"/>
      <p:regular r:id="rId20"/>
    </p:embeddedFont>
    <p:embeddedFont>
      <p:font typeface="Open Sans 1 Bold" charset="1" panose="00000000000000000000"/>
      <p:regular r:id="rId21"/>
    </p:embeddedFont>
    <p:embeddedFont>
      <p:font typeface="Open Sans 1" charset="1" panose="00000000000000000000"/>
      <p:regular r:id="rId22"/>
    </p:embeddedFont>
    <p:embeddedFont>
      <p:font typeface="Garet" charset="1" panose="00000000000000000000"/>
      <p:regular r:id="rId23"/>
    </p:embeddedFont>
    <p:embeddedFont>
      <p:font typeface="Open Sans 2 Bold" charset="1" panose="020B08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2" Target="../media/image10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https://github.com/Giovana-82/Projeto-SRUM---Sistema-de-controle-de-TCC.gi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54330" y="6119168"/>
            <a:ext cx="3106534" cy="1017288"/>
            <a:chOff x="0" y="0"/>
            <a:chExt cx="818182" cy="267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8182" cy="267928"/>
            </a:xfrm>
            <a:custGeom>
              <a:avLst/>
              <a:gdLst/>
              <a:ahLst/>
              <a:cxnLst/>
              <a:rect r="r" b="b" t="t" l="l"/>
              <a:pathLst>
                <a:path h="267928" w="818182">
                  <a:moveTo>
                    <a:pt x="0" y="0"/>
                  </a:moveTo>
                  <a:lnTo>
                    <a:pt x="818182" y="0"/>
                  </a:lnTo>
                  <a:lnTo>
                    <a:pt x="818182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8182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303762" y="2643748"/>
            <a:ext cx="4901136" cy="4901136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950388" y="6119168"/>
            <a:ext cx="9803941" cy="1017288"/>
            <a:chOff x="0" y="0"/>
            <a:chExt cx="2582108" cy="267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82108" cy="267928"/>
            </a:xfrm>
            <a:custGeom>
              <a:avLst/>
              <a:gdLst/>
              <a:ahLst/>
              <a:cxnLst/>
              <a:rect r="r" b="b" t="t" l="l"/>
              <a:pathLst>
                <a:path h="267928" w="2582108">
                  <a:moveTo>
                    <a:pt x="0" y="0"/>
                  </a:moveTo>
                  <a:lnTo>
                    <a:pt x="2582108" y="0"/>
                  </a:lnTo>
                  <a:lnTo>
                    <a:pt x="2582108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582108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40396" y="5094316"/>
            <a:ext cx="1470026" cy="553882"/>
            <a:chOff x="0" y="0"/>
            <a:chExt cx="600197" cy="226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1579" y="6119168"/>
            <a:ext cx="2381250" cy="1017288"/>
            <a:chOff x="0" y="0"/>
            <a:chExt cx="627160" cy="267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57631" y="6119168"/>
            <a:ext cx="2381250" cy="1017288"/>
            <a:chOff x="0" y="0"/>
            <a:chExt cx="627160" cy="267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03684" y="6119168"/>
            <a:ext cx="2381250" cy="1017288"/>
            <a:chOff x="0" y="0"/>
            <a:chExt cx="627160" cy="2679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72850" y="6119168"/>
            <a:ext cx="2667000" cy="1017288"/>
            <a:chOff x="0" y="0"/>
            <a:chExt cx="702420" cy="2679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2420" cy="267928"/>
            </a:xfrm>
            <a:custGeom>
              <a:avLst/>
              <a:gdLst/>
              <a:ahLst/>
              <a:cxnLst/>
              <a:rect r="r" b="b" t="t" l="l"/>
              <a:pathLst>
                <a:path h="267928" w="702420">
                  <a:moveTo>
                    <a:pt x="133964" y="0"/>
                  </a:moveTo>
                  <a:lnTo>
                    <a:pt x="568456" y="0"/>
                  </a:lnTo>
                  <a:cubicBezTo>
                    <a:pt x="642442" y="0"/>
                    <a:pt x="702420" y="59978"/>
                    <a:pt x="702420" y="133964"/>
                  </a:cubicBezTo>
                  <a:lnTo>
                    <a:pt x="702420" y="133964"/>
                  </a:lnTo>
                  <a:cubicBezTo>
                    <a:pt x="702420" y="207950"/>
                    <a:pt x="642442" y="267928"/>
                    <a:pt x="568456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70242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13349282" y="6350871"/>
            <a:ext cx="1470026" cy="553882"/>
            <a:chOff x="0" y="0"/>
            <a:chExt cx="600197" cy="2261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35454" y="3335887"/>
            <a:ext cx="1333500" cy="13335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681506" y="3335887"/>
            <a:ext cx="1333500" cy="133350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27559" y="2204276"/>
            <a:ext cx="1333500" cy="133350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330470" y="3335887"/>
            <a:ext cx="1333500" cy="1333500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2373604" y="37740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989028" y="3774037"/>
            <a:ext cx="718457" cy="457200"/>
          </a:xfrm>
          <a:custGeom>
            <a:avLst/>
            <a:gdLst/>
            <a:ahLst/>
            <a:cxnLst/>
            <a:rect r="r" b="b" t="t" l="l"/>
            <a:pathLst>
              <a:path h="457200" w="718457">
                <a:moveTo>
                  <a:pt x="0" y="0"/>
                </a:moveTo>
                <a:lnTo>
                  <a:pt x="718457" y="0"/>
                </a:lnTo>
                <a:lnTo>
                  <a:pt x="71845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870007" y="2604326"/>
            <a:ext cx="480060" cy="533400"/>
          </a:xfrm>
          <a:custGeom>
            <a:avLst/>
            <a:gdLst/>
            <a:ahLst/>
            <a:cxnLst/>
            <a:rect r="r" b="b" t="t" l="l"/>
            <a:pathLst>
              <a:path h="533400" w="480060">
                <a:moveTo>
                  <a:pt x="0" y="0"/>
                </a:moveTo>
                <a:lnTo>
                  <a:pt x="480060" y="0"/>
                </a:lnTo>
                <a:lnTo>
                  <a:pt x="48006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763008" y="3735937"/>
            <a:ext cx="468422" cy="533400"/>
          </a:xfrm>
          <a:custGeom>
            <a:avLst/>
            <a:gdLst/>
            <a:ahLst/>
            <a:cxnLst/>
            <a:rect r="r" b="b" t="t" l="l"/>
            <a:pathLst>
              <a:path h="533400" w="468422">
                <a:moveTo>
                  <a:pt x="0" y="0"/>
                </a:moveTo>
                <a:lnTo>
                  <a:pt x="468423" y="0"/>
                </a:lnTo>
                <a:lnTo>
                  <a:pt x="468423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28700" y="942975"/>
            <a:ext cx="11473857" cy="81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  <a:spcBef>
                <a:spcPct val="0"/>
              </a:spcBef>
            </a:pPr>
            <a:r>
              <a:rPr lang="en-US" b="true" sz="4796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SISTEMA DE CONTROLE DE TCC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65565" y="6370637"/>
            <a:ext cx="147327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Product Backlog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35391" y="7591425"/>
            <a:ext cx="2333625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Cadastro de TCCs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Cadastro de Atividades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Dashboard de Progresso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Definido pelo Product Owner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181444" y="7591425"/>
            <a:ext cx="233362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Seleção dos itens do backlog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Estimativa de esforço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Definição do objetivo da Sprint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404146" y="6370637"/>
            <a:ext cx="188822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Planejamento da Sprint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05754" y="6370637"/>
            <a:ext cx="117711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Backlog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417795" y="6370637"/>
            <a:ext cx="11771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Entrega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65774" y="4847382"/>
            <a:ext cx="117711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1 – 7 Dias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927497" y="7591425"/>
            <a:ext cx="233362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HU01 – Cadastro de TCC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HU02 – Cadastro de Atividades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HU03 – Dashboard de Progresso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72850" y="7591425"/>
            <a:ext cx="26670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Sprint 1 concluída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Funcionalidades entregues</a:t>
            </a:r>
          </a:p>
          <a:p>
            <a:pPr algn="l" marL="0" indent="0" lvl="0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MVP aprovado pelo Product Owner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865565" y="4987579"/>
            <a:ext cx="147327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Product Owner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611617" y="4980732"/>
            <a:ext cx="147327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Equipe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57670" y="3855503"/>
            <a:ext cx="147327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Scrum Master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735139" y="4980732"/>
            <a:ext cx="252416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Review &amp; Retrospectiva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235082" y="6637337"/>
            <a:ext cx="152427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</a:pPr>
            <a:r>
              <a:rPr lang="en-US" b="true" sz="1732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21/06/2026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4363" y="2757875"/>
            <a:ext cx="6905625" cy="1905000"/>
            <a:chOff x="0" y="0"/>
            <a:chExt cx="2825596" cy="77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4363" y="5048250"/>
            <a:ext cx="6905625" cy="1905000"/>
            <a:chOff x="0" y="0"/>
            <a:chExt cx="2825596" cy="779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53675" y="2757875"/>
            <a:ext cx="6905625" cy="1905000"/>
            <a:chOff x="0" y="0"/>
            <a:chExt cx="2825596" cy="779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675" y="5048250"/>
            <a:ext cx="6905625" cy="1905000"/>
            <a:chOff x="0" y="0"/>
            <a:chExt cx="2825596" cy="779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074713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09"/>
                </a:lnTo>
                <a:lnTo>
                  <a:pt x="0" y="141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5365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18012" y="3074713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09"/>
                </a:lnTo>
                <a:lnTo>
                  <a:pt x="0" y="141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18012" y="5365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3074713"/>
            <a:ext cx="1271325" cy="127132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5365087"/>
            <a:ext cx="1271325" cy="127132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18012" y="3074713"/>
            <a:ext cx="1271325" cy="127132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8012" y="5365087"/>
            <a:ext cx="1271325" cy="127132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4363" y="7334250"/>
            <a:ext cx="6905625" cy="1905000"/>
            <a:chOff x="0" y="0"/>
            <a:chExt cx="2825596" cy="7794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53675" y="7334250"/>
            <a:ext cx="6905625" cy="1905000"/>
            <a:chOff x="0" y="0"/>
            <a:chExt cx="2825596" cy="7794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028700" y="7651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718012" y="7651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28700" y="7651087"/>
            <a:ext cx="1271325" cy="127132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18012" y="7651087"/>
            <a:ext cx="1271325" cy="127132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C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376609" y="5755654"/>
            <a:ext cx="527155" cy="535188"/>
          </a:xfrm>
          <a:custGeom>
            <a:avLst/>
            <a:gdLst/>
            <a:ahLst/>
            <a:cxnLst/>
            <a:rect r="r" b="b" t="t" l="l"/>
            <a:pathLst>
              <a:path h="535188" w="527155">
                <a:moveTo>
                  <a:pt x="0" y="0"/>
                </a:moveTo>
                <a:lnTo>
                  <a:pt x="527154" y="0"/>
                </a:lnTo>
                <a:lnTo>
                  <a:pt x="527154" y="535188"/>
                </a:lnTo>
                <a:lnTo>
                  <a:pt x="0" y="535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42868" y="3403470"/>
            <a:ext cx="450543" cy="605363"/>
          </a:xfrm>
          <a:custGeom>
            <a:avLst/>
            <a:gdLst/>
            <a:ahLst/>
            <a:cxnLst/>
            <a:rect r="r" b="b" t="t" l="l"/>
            <a:pathLst>
              <a:path h="605363" w="450543">
                <a:moveTo>
                  <a:pt x="0" y="0"/>
                </a:moveTo>
                <a:lnTo>
                  <a:pt x="450544" y="0"/>
                </a:lnTo>
                <a:lnTo>
                  <a:pt x="450544" y="605363"/>
                </a:lnTo>
                <a:lnTo>
                  <a:pt x="0" y="605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83920" y="8007170"/>
            <a:ext cx="559165" cy="559165"/>
          </a:xfrm>
          <a:custGeom>
            <a:avLst/>
            <a:gdLst/>
            <a:ahLst/>
            <a:cxnLst/>
            <a:rect r="r" b="b" t="t" l="l"/>
            <a:pathLst>
              <a:path h="559165" w="559165">
                <a:moveTo>
                  <a:pt x="0" y="0"/>
                </a:moveTo>
                <a:lnTo>
                  <a:pt x="559165" y="0"/>
                </a:lnTo>
                <a:lnTo>
                  <a:pt x="559165" y="559164"/>
                </a:lnTo>
                <a:lnTo>
                  <a:pt x="0" y="559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936103" y="3288432"/>
            <a:ext cx="739188" cy="706862"/>
          </a:xfrm>
          <a:custGeom>
            <a:avLst/>
            <a:gdLst/>
            <a:ahLst/>
            <a:cxnLst/>
            <a:rect r="r" b="b" t="t" l="l"/>
            <a:pathLst>
              <a:path h="706862" w="739188">
                <a:moveTo>
                  <a:pt x="0" y="0"/>
                </a:moveTo>
                <a:lnTo>
                  <a:pt x="739188" y="0"/>
                </a:lnTo>
                <a:lnTo>
                  <a:pt x="739188" y="706862"/>
                </a:lnTo>
                <a:lnTo>
                  <a:pt x="0" y="7068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0079416" y="5626344"/>
            <a:ext cx="591426" cy="726836"/>
          </a:xfrm>
          <a:custGeom>
            <a:avLst/>
            <a:gdLst/>
            <a:ahLst/>
            <a:cxnLst/>
            <a:rect r="r" b="b" t="t" l="l"/>
            <a:pathLst>
              <a:path h="726836" w="591426">
                <a:moveTo>
                  <a:pt x="0" y="0"/>
                </a:moveTo>
                <a:lnTo>
                  <a:pt x="591426" y="0"/>
                </a:lnTo>
                <a:lnTo>
                  <a:pt x="591426" y="726836"/>
                </a:lnTo>
                <a:lnTo>
                  <a:pt x="0" y="7268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011620" y="8022454"/>
            <a:ext cx="683400" cy="646871"/>
          </a:xfrm>
          <a:custGeom>
            <a:avLst/>
            <a:gdLst/>
            <a:ahLst/>
            <a:cxnLst/>
            <a:rect r="r" b="b" t="t" l="l"/>
            <a:pathLst>
              <a:path h="646871" w="683400">
                <a:moveTo>
                  <a:pt x="0" y="0"/>
                </a:moveTo>
                <a:lnTo>
                  <a:pt x="683401" y="0"/>
                </a:lnTo>
                <a:lnTo>
                  <a:pt x="683401" y="646871"/>
                </a:lnTo>
                <a:lnTo>
                  <a:pt x="0" y="6468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28700" y="1028700"/>
            <a:ext cx="14273301" cy="989987"/>
            <a:chOff x="0" y="0"/>
            <a:chExt cx="19031068" cy="1319982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-47625"/>
              <a:ext cx="19031068" cy="68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6"/>
                </a:lnSpc>
                <a:spcBef>
                  <a:spcPct val="0"/>
                </a:spcBef>
              </a:pPr>
              <a:r>
                <a:rPr lang="en-US" b="true" sz="3197">
                  <a:solidFill>
                    <a:srgbClr val="33333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OBJETIVO DA SPRINT 1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913226"/>
              <a:ext cx="19031068" cy="406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sz="1864">
                  <a:solidFill>
                    <a:srgbClr val="333333"/>
                  </a:solidFill>
                  <a:latin typeface="Garet"/>
                  <a:ea typeface="Garet"/>
                  <a:cs typeface="Garet"/>
                  <a:sym typeface="Garet"/>
                </a:rPr>
                <a:t>Funcionalidades planejadas e entregues ao longo do primeiro ciclo de desenvolvimento Scrum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802156" y="3296267"/>
            <a:ext cx="4495055" cy="751736"/>
            <a:chOff x="0" y="0"/>
            <a:chExt cx="5993406" cy="1002315"/>
          </a:xfrm>
        </p:grpSpPr>
        <p:sp>
          <p:nvSpPr>
            <p:cNvPr name="TextBox 54" id="54"/>
            <p:cNvSpPr txBox="true"/>
            <p:nvPr/>
          </p:nvSpPr>
          <p:spPr>
            <a:xfrm rot="0">
              <a:off x="0" y="-9525"/>
              <a:ext cx="5993406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b="true" sz="1355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Cadastro de TCCs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459390"/>
              <a:ext cx="5993406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sz="1355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Permitir o registro completo de Trabalhos de Conclusão de Curso com dados de título, autor e orientador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802156" y="5586642"/>
            <a:ext cx="4495055" cy="751736"/>
            <a:chOff x="0" y="0"/>
            <a:chExt cx="5993406" cy="1002315"/>
          </a:xfrm>
        </p:grpSpPr>
        <p:sp>
          <p:nvSpPr>
            <p:cNvPr name="TextBox 57" id="57"/>
            <p:cNvSpPr txBox="true"/>
            <p:nvPr/>
          </p:nvSpPr>
          <p:spPr>
            <a:xfrm rot="0">
              <a:off x="0" y="-9525"/>
              <a:ext cx="5993406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b="true" sz="1355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Cadastro de Atividades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459390"/>
              <a:ext cx="5993406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sz="1355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Registrar atividades vinculadas aos TCCs com descrição, data, responsável e status de andamento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91469" y="3296267"/>
            <a:ext cx="4495055" cy="751736"/>
            <a:chOff x="0" y="0"/>
            <a:chExt cx="5993406" cy="1002315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-9525"/>
              <a:ext cx="5993406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b="true" sz="1355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Dashboard de Progresso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459390"/>
              <a:ext cx="5993406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sz="1355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Visão geral do progresso dos TCCs com indicadores de status, prazos e percentual de conclusão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491469" y="5586642"/>
            <a:ext cx="4495055" cy="751736"/>
            <a:chOff x="0" y="0"/>
            <a:chExt cx="5993406" cy="1002315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-9525"/>
              <a:ext cx="5993406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b="true" sz="1355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Metodologia Scrum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459390"/>
              <a:ext cx="5993406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sz="1355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Desenvolvimento orientado por sprints com reuniões de planejamento, revisão e retrospectiva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802156" y="7872642"/>
            <a:ext cx="4495055" cy="751736"/>
            <a:chOff x="0" y="0"/>
            <a:chExt cx="5993406" cy="1002315"/>
          </a:xfrm>
        </p:grpSpPr>
        <p:sp>
          <p:nvSpPr>
            <p:cNvPr name="TextBox 66" id="66"/>
            <p:cNvSpPr txBox="true"/>
            <p:nvPr/>
          </p:nvSpPr>
          <p:spPr>
            <a:xfrm rot="0">
              <a:off x="0" y="-9525"/>
              <a:ext cx="5993406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b="true" sz="1355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Validações e Integridade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459390"/>
              <a:ext cx="5993406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sz="1355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Implementação de validações nos formulários para garantir a integridade e consistência dos dados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491469" y="7872642"/>
            <a:ext cx="4495055" cy="751736"/>
            <a:chOff x="0" y="0"/>
            <a:chExt cx="5993406" cy="1002315"/>
          </a:xfrm>
        </p:grpSpPr>
        <p:sp>
          <p:nvSpPr>
            <p:cNvPr name="TextBox 69" id="69"/>
            <p:cNvSpPr txBox="true"/>
            <p:nvPr/>
          </p:nvSpPr>
          <p:spPr>
            <a:xfrm rot="0">
              <a:off x="0" y="-9525"/>
              <a:ext cx="5993406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b="true" sz="1355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MVP Aprovado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0" y="459390"/>
              <a:ext cx="5993406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27"/>
                </a:lnSpc>
              </a:pPr>
              <a:r>
                <a:rPr lang="en-US" sz="1355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Produto mínimo viável revisado e aprovado pelo Product Owner ao final da Sprint 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0416"/>
            <a:ext cx="6629666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EQUIPE SCRUM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05354"/>
            <a:ext cx="6629666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9"/>
              </a:lnSpc>
              <a:spcBef>
                <a:spcPct val="0"/>
              </a:spcBef>
            </a:pPr>
            <a:r>
              <a:rPr lang="en-US" sz="164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Conheça os papéis e responsabilidades da equipe no desenvolvimento do Sistema de Controle de TCC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36637" y="8288711"/>
            <a:ext cx="8449966" cy="945247"/>
            <a:chOff x="0" y="0"/>
            <a:chExt cx="2225505" cy="248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14582" y="8288711"/>
            <a:ext cx="1209936" cy="943610"/>
            <a:chOff x="0" y="0"/>
            <a:chExt cx="540403" cy="4214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66755" y="7971366"/>
            <a:ext cx="915527" cy="1572684"/>
            <a:chOff x="0" y="0"/>
            <a:chExt cx="588238" cy="1010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56568" y="8523210"/>
            <a:ext cx="148294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Product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Owner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40235" y="8523210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Define as prioridades do backlog e representa os interesses dos stakeholders do projeto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504811" y="6716293"/>
            <a:ext cx="8449966" cy="945247"/>
            <a:chOff x="0" y="0"/>
            <a:chExt cx="2225505" cy="2489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63397" y="6716293"/>
            <a:ext cx="1281368" cy="943610"/>
            <a:chOff x="0" y="0"/>
            <a:chExt cx="572307" cy="4214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307" cy="421452"/>
            </a:xfrm>
            <a:custGeom>
              <a:avLst/>
              <a:gdLst/>
              <a:ahLst/>
              <a:cxnLst/>
              <a:rect r="r" b="b" t="t" l="l"/>
              <a:pathLst>
                <a:path h="421452" w="572307">
                  <a:moveTo>
                    <a:pt x="203200" y="0"/>
                  </a:moveTo>
                  <a:lnTo>
                    <a:pt x="369107" y="0"/>
                  </a:lnTo>
                  <a:lnTo>
                    <a:pt x="572307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-28575"/>
              <a:ext cx="318307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15570" y="6398947"/>
            <a:ext cx="915527" cy="1572684"/>
            <a:chOff x="0" y="0"/>
            <a:chExt cx="588238" cy="1010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005383" y="6950791"/>
            <a:ext cx="193654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Scrum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Master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89050" y="6950791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Facilita os rituais Scrum, remove impedimentos e garante a adoção da metodologia ágil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272986" y="5143874"/>
            <a:ext cx="8449966" cy="945247"/>
            <a:chOff x="0" y="0"/>
            <a:chExt cx="2225505" cy="2489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12212" y="5143874"/>
            <a:ext cx="1209936" cy="943610"/>
            <a:chOff x="0" y="0"/>
            <a:chExt cx="540403" cy="4214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4385" y="4826528"/>
            <a:ext cx="915527" cy="1572684"/>
            <a:chOff x="0" y="0"/>
            <a:chExt cx="588238" cy="10104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807662" y="5522383"/>
            <a:ext cx="138113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Developers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37865" y="5378372"/>
            <a:ext cx="382968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Equipe responsável pelo desenvolvimento, implementação e entrega das funcionalidades do sistema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041160" y="3571455"/>
            <a:ext cx="8449966" cy="945247"/>
            <a:chOff x="0" y="0"/>
            <a:chExt cx="2225505" cy="2489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61027" y="3571455"/>
            <a:ext cx="1281368" cy="943610"/>
            <a:chOff x="0" y="0"/>
            <a:chExt cx="572307" cy="4214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2307" cy="421452"/>
            </a:xfrm>
            <a:custGeom>
              <a:avLst/>
              <a:gdLst/>
              <a:ahLst/>
              <a:cxnLst/>
              <a:rect r="r" b="b" t="t" l="l"/>
              <a:pathLst>
                <a:path h="421452" w="572307">
                  <a:moveTo>
                    <a:pt x="203200" y="0"/>
                  </a:moveTo>
                  <a:lnTo>
                    <a:pt x="369107" y="0"/>
                  </a:lnTo>
                  <a:lnTo>
                    <a:pt x="572307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-28575"/>
              <a:ext cx="318307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13199" y="3254109"/>
            <a:ext cx="915527" cy="1572684"/>
            <a:chOff x="0" y="0"/>
            <a:chExt cx="588238" cy="1010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694534" y="3952772"/>
            <a:ext cx="1172289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86680" y="3805953"/>
            <a:ext cx="409446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Garante a qualidade das entregas por meio de testes, validações e critérios de aceitação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504811" y="8473362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46804" y="6903166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188798" y="5332970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030791" y="3762774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531" y="5007496"/>
            <a:ext cx="4391415" cy="2328954"/>
            <a:chOff x="0" y="0"/>
            <a:chExt cx="1498936" cy="794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1177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31177" y="3214265"/>
            <a:ext cx="1524000" cy="15240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9039225"/>
            <a:ext cx="16230600" cy="0"/>
          </a:xfrm>
          <a:prstGeom prst="line">
            <a:avLst/>
          </a:prstGeom>
          <a:ln cap="flat" w="57150">
            <a:solidFill>
              <a:srgbClr val="C1C7D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55052" y="8782050"/>
            <a:ext cx="476250" cy="4762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2777798" y="5007496"/>
            <a:ext cx="4391415" cy="2328954"/>
            <a:chOff x="0" y="0"/>
            <a:chExt cx="1498936" cy="794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30398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211506" y="3214265"/>
            <a:ext cx="1524000" cy="15240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35381" y="8782050"/>
            <a:ext cx="476250" cy="47625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5558128" y="5007496"/>
            <a:ext cx="4391415" cy="2328954"/>
            <a:chOff x="0" y="0"/>
            <a:chExt cx="1498936" cy="7949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995233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9" y="0"/>
                </a:lnTo>
                <a:lnTo>
                  <a:pt x="1695609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991835" y="3214265"/>
            <a:ext cx="1524000" cy="15240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15710" y="8782050"/>
            <a:ext cx="476250" cy="47625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8338457" y="5007496"/>
            <a:ext cx="4391415" cy="2328954"/>
            <a:chOff x="0" y="0"/>
            <a:chExt cx="1498936" cy="7949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768608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9" y="0"/>
                </a:lnTo>
                <a:lnTo>
                  <a:pt x="1695609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772165" y="3214265"/>
            <a:ext cx="1524000" cy="15240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96040" y="8782050"/>
            <a:ext cx="476250" cy="47625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5400000">
            <a:off x="11118786" y="5007496"/>
            <a:ext cx="4391415" cy="2328954"/>
            <a:chOff x="0" y="0"/>
            <a:chExt cx="1498936" cy="7949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552494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2552494" y="3214265"/>
            <a:ext cx="1524000" cy="152400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076369" y="8782050"/>
            <a:ext cx="476250" cy="476250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5400000">
            <a:off x="13899115" y="5007496"/>
            <a:ext cx="4391415" cy="2328954"/>
            <a:chOff x="0" y="0"/>
            <a:chExt cx="1498936" cy="7949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5332823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5332823" y="3214265"/>
            <a:ext cx="1524000" cy="1524000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856698" y="8782050"/>
            <a:ext cx="476250" cy="476250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4699186" y="3671465"/>
            <a:ext cx="548640" cy="609600"/>
          </a:xfrm>
          <a:custGeom>
            <a:avLst/>
            <a:gdLst/>
            <a:ahLst/>
            <a:cxnLst/>
            <a:rect r="r" b="b" t="t" l="l"/>
            <a:pathLst>
              <a:path h="609600" w="548640">
                <a:moveTo>
                  <a:pt x="0" y="0"/>
                </a:moveTo>
                <a:lnTo>
                  <a:pt x="548640" y="0"/>
                </a:lnTo>
                <a:lnTo>
                  <a:pt x="54864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7479515" y="3671465"/>
            <a:ext cx="548640" cy="609600"/>
          </a:xfrm>
          <a:custGeom>
            <a:avLst/>
            <a:gdLst/>
            <a:ahLst/>
            <a:cxnLst/>
            <a:rect r="r" b="b" t="t" l="l"/>
            <a:pathLst>
              <a:path h="609600" w="548640">
                <a:moveTo>
                  <a:pt x="0" y="0"/>
                </a:moveTo>
                <a:lnTo>
                  <a:pt x="548640" y="0"/>
                </a:lnTo>
                <a:lnTo>
                  <a:pt x="54864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0229365" y="3732425"/>
            <a:ext cx="609600" cy="487680"/>
          </a:xfrm>
          <a:custGeom>
            <a:avLst/>
            <a:gdLst/>
            <a:ahLst/>
            <a:cxnLst/>
            <a:rect r="r" b="b" t="t" l="l"/>
            <a:pathLst>
              <a:path h="487680" w="609600">
                <a:moveTo>
                  <a:pt x="0" y="0"/>
                </a:moveTo>
                <a:lnTo>
                  <a:pt x="609600" y="0"/>
                </a:lnTo>
                <a:lnTo>
                  <a:pt x="60960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888377" y="3732425"/>
            <a:ext cx="609600" cy="487680"/>
          </a:xfrm>
          <a:custGeom>
            <a:avLst/>
            <a:gdLst/>
            <a:ahLst/>
            <a:cxnLst/>
            <a:rect r="r" b="b" t="t" l="l"/>
            <a:pathLst>
              <a:path h="487680" w="609600">
                <a:moveTo>
                  <a:pt x="0" y="0"/>
                </a:moveTo>
                <a:lnTo>
                  <a:pt x="609600" y="0"/>
                </a:lnTo>
                <a:lnTo>
                  <a:pt x="609600" y="487680"/>
                </a:lnTo>
                <a:lnTo>
                  <a:pt x="0" y="487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3009694" y="3699174"/>
            <a:ext cx="609600" cy="554182"/>
          </a:xfrm>
          <a:custGeom>
            <a:avLst/>
            <a:gdLst/>
            <a:ahLst/>
            <a:cxnLst/>
            <a:rect r="r" b="b" t="t" l="l"/>
            <a:pathLst>
              <a:path h="554182" w="609600">
                <a:moveTo>
                  <a:pt x="0" y="0"/>
                </a:moveTo>
                <a:lnTo>
                  <a:pt x="609600" y="0"/>
                </a:lnTo>
                <a:lnTo>
                  <a:pt x="609600" y="554182"/>
                </a:lnTo>
                <a:lnTo>
                  <a:pt x="0" y="5541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5738899" y="3671465"/>
            <a:ext cx="711847" cy="609600"/>
          </a:xfrm>
          <a:custGeom>
            <a:avLst/>
            <a:gdLst/>
            <a:ahLst/>
            <a:cxnLst/>
            <a:rect r="r" b="b" t="t" l="l"/>
            <a:pathLst>
              <a:path h="609600" w="711847">
                <a:moveTo>
                  <a:pt x="0" y="0"/>
                </a:moveTo>
                <a:lnTo>
                  <a:pt x="711848" y="0"/>
                </a:lnTo>
                <a:lnTo>
                  <a:pt x="711848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028700" y="981075"/>
            <a:ext cx="12253831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FUNCIONALIDADES ENTREGUES – SPRINT 1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8700" y="1713562"/>
            <a:ext cx="12253831" cy="28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49"/>
              </a:lnSpc>
              <a:spcBef>
                <a:spcPct val="0"/>
              </a:spcBef>
            </a:pPr>
            <a:r>
              <a:rPr lang="en-US" sz="174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Histórias de usuário concluídas e entregues ao Product Owner nesta Sprint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240677" y="5099109"/>
            <a:ext cx="1905000" cy="1294661"/>
            <a:chOff x="0" y="0"/>
            <a:chExt cx="2540000" cy="1726215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-9525"/>
              <a:ext cx="2540000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b="true" sz="127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HU01 – Cadastro de TCC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0" y="446690"/>
              <a:ext cx="2540000" cy="1279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sz="127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Cadastro completo de TCCs com título, autor, orientador e status. Validações implementadas.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531464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✓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4021006" y="5099109"/>
            <a:ext cx="1905000" cy="1294661"/>
            <a:chOff x="0" y="0"/>
            <a:chExt cx="2540000" cy="1726215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-9525"/>
              <a:ext cx="2540000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b="true" sz="127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HU02 – Cadastro de Atividades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700690"/>
              <a:ext cx="2540000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sz="127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Registro de atividades vinculadas aos TCCs com descrição, data, responsável e status.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4311793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✓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6801335" y="5099109"/>
            <a:ext cx="1905000" cy="1485161"/>
            <a:chOff x="0" y="0"/>
            <a:chExt cx="2540000" cy="1980215"/>
          </a:xfrm>
        </p:grpSpPr>
        <p:sp>
          <p:nvSpPr>
            <p:cNvPr name="TextBox 80" id="80"/>
            <p:cNvSpPr txBox="true"/>
            <p:nvPr/>
          </p:nvSpPr>
          <p:spPr>
            <a:xfrm rot="0">
              <a:off x="0" y="-9525"/>
              <a:ext cx="2540000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b="true" sz="127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HU03 – Dashboard de Progresso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0" y="700690"/>
              <a:ext cx="2540000" cy="1279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sz="127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Visão geral do progresso dos TCCs com indicadores de status, prazos e percentual de conclusão.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7092123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✓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581665" y="5099109"/>
            <a:ext cx="1905000" cy="1294661"/>
            <a:chOff x="0" y="0"/>
            <a:chExt cx="2540000" cy="1726215"/>
          </a:xfrm>
        </p:grpSpPr>
        <p:sp>
          <p:nvSpPr>
            <p:cNvPr name="TextBox 84" id="84"/>
            <p:cNvSpPr txBox="true"/>
            <p:nvPr/>
          </p:nvSpPr>
          <p:spPr>
            <a:xfrm rot="0">
              <a:off x="0" y="-9525"/>
              <a:ext cx="2540000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b="true" sz="127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Cobertura de Testes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0" y="446690"/>
              <a:ext cx="2540000" cy="1279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sz="127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Validações e testes implementados em todas as funcionalidades para garantir integridade dos dados.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9872452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✓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361994" y="5099109"/>
            <a:ext cx="1905000" cy="1294661"/>
            <a:chOff x="0" y="0"/>
            <a:chExt cx="2540000" cy="1726215"/>
          </a:xfrm>
        </p:grpSpPr>
        <p:sp>
          <p:nvSpPr>
            <p:cNvPr name="TextBox 88" id="88"/>
            <p:cNvSpPr txBox="true"/>
            <p:nvPr/>
          </p:nvSpPr>
          <p:spPr>
            <a:xfrm rot="0">
              <a:off x="0" y="-9525"/>
              <a:ext cx="2540000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b="true" sz="127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MVP Aprovado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0" y="446690"/>
              <a:ext cx="2540000" cy="1279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sz="127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Product Owner validou e aprovou todas as entregas. Requisitos da Sprint atendidos com sucesso.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2652781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✓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5142323" y="5099109"/>
            <a:ext cx="1905000" cy="1104161"/>
            <a:chOff x="0" y="0"/>
            <a:chExt cx="2540000" cy="1472215"/>
          </a:xfrm>
        </p:grpSpPr>
        <p:sp>
          <p:nvSpPr>
            <p:cNvPr name="TextBox 92" id="92"/>
            <p:cNvSpPr txBox="true"/>
            <p:nvPr/>
          </p:nvSpPr>
          <p:spPr>
            <a:xfrm rot="0">
              <a:off x="0" y="-9525"/>
              <a:ext cx="2540000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b="true" sz="127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Sprint Concluída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0" y="446690"/>
              <a:ext cx="2540000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6"/>
                </a:lnSpc>
              </a:pPr>
              <a:r>
                <a:rPr lang="en-US" sz="127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3 histórias entregues dentro do prazo. Equipe pronta para planejar a próxima Sprint.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5433110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278" y="0"/>
            <a:ext cx="18683244" cy="10206914"/>
          </a:xfrm>
          <a:custGeom>
            <a:avLst/>
            <a:gdLst/>
            <a:ahLst/>
            <a:cxnLst/>
            <a:rect r="r" b="b" t="t" l="l"/>
            <a:pathLst>
              <a:path h="10206914" w="18683244">
                <a:moveTo>
                  <a:pt x="0" y="0"/>
                </a:moveTo>
                <a:lnTo>
                  <a:pt x="18683244" y="0"/>
                </a:lnTo>
                <a:lnTo>
                  <a:pt x="18683244" y="10206914"/>
                </a:lnTo>
                <a:lnTo>
                  <a:pt x="0" y="1020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555660" cy="10413389"/>
          </a:xfrm>
          <a:custGeom>
            <a:avLst/>
            <a:gdLst/>
            <a:ahLst/>
            <a:cxnLst/>
            <a:rect r="r" b="b" t="t" l="l"/>
            <a:pathLst>
              <a:path h="10413389" w="19555660">
                <a:moveTo>
                  <a:pt x="0" y="0"/>
                </a:moveTo>
                <a:lnTo>
                  <a:pt x="19555660" y="0"/>
                </a:lnTo>
                <a:lnTo>
                  <a:pt x="19555660" y="10413389"/>
                </a:lnTo>
                <a:lnTo>
                  <a:pt x="0" y="10413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4363" y="2757875"/>
            <a:ext cx="6905625" cy="1905000"/>
            <a:chOff x="0" y="0"/>
            <a:chExt cx="2825596" cy="77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4363" y="5048250"/>
            <a:ext cx="6905625" cy="1905000"/>
            <a:chOff x="0" y="0"/>
            <a:chExt cx="2825596" cy="779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53675" y="2757875"/>
            <a:ext cx="6905625" cy="1905000"/>
            <a:chOff x="0" y="0"/>
            <a:chExt cx="2825596" cy="779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675" y="5048250"/>
            <a:ext cx="6905625" cy="1905000"/>
            <a:chOff x="0" y="0"/>
            <a:chExt cx="2825596" cy="779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074713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09"/>
                </a:lnTo>
                <a:lnTo>
                  <a:pt x="0" y="141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5365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18012" y="3074713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09"/>
                </a:lnTo>
                <a:lnTo>
                  <a:pt x="0" y="141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18012" y="5365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3074713"/>
            <a:ext cx="1271325" cy="127132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5365087"/>
            <a:ext cx="1271325" cy="127132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18012" y="3074713"/>
            <a:ext cx="1271325" cy="127132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8012" y="5365087"/>
            <a:ext cx="1271325" cy="127132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4363" y="7334250"/>
            <a:ext cx="6905625" cy="1905000"/>
            <a:chOff x="0" y="0"/>
            <a:chExt cx="2825596" cy="7794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53675" y="7334250"/>
            <a:ext cx="6905625" cy="1905000"/>
            <a:chOff x="0" y="0"/>
            <a:chExt cx="2825596" cy="7794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028700" y="7651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718012" y="7651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28700" y="7651087"/>
            <a:ext cx="1271325" cy="127132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18012" y="7651087"/>
            <a:ext cx="1271325" cy="127132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C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399046" y="5705262"/>
            <a:ext cx="490053" cy="624913"/>
          </a:xfrm>
          <a:custGeom>
            <a:avLst/>
            <a:gdLst/>
            <a:ahLst/>
            <a:cxnLst/>
            <a:rect r="r" b="b" t="t" l="l"/>
            <a:pathLst>
              <a:path h="624913" w="490053">
                <a:moveTo>
                  <a:pt x="0" y="0"/>
                </a:moveTo>
                <a:lnTo>
                  <a:pt x="490053" y="0"/>
                </a:lnTo>
                <a:lnTo>
                  <a:pt x="490053" y="624913"/>
                </a:lnTo>
                <a:lnTo>
                  <a:pt x="0" y="624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64408" y="3405704"/>
            <a:ext cx="604080" cy="607803"/>
          </a:xfrm>
          <a:custGeom>
            <a:avLst/>
            <a:gdLst/>
            <a:ahLst/>
            <a:cxnLst/>
            <a:rect r="r" b="b" t="t" l="l"/>
            <a:pathLst>
              <a:path h="607803" w="604080">
                <a:moveTo>
                  <a:pt x="0" y="0"/>
                </a:moveTo>
                <a:lnTo>
                  <a:pt x="604080" y="0"/>
                </a:lnTo>
                <a:lnTo>
                  <a:pt x="604080" y="607804"/>
                </a:lnTo>
                <a:lnTo>
                  <a:pt x="0" y="60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14212" y="8037088"/>
            <a:ext cx="498505" cy="498505"/>
          </a:xfrm>
          <a:custGeom>
            <a:avLst/>
            <a:gdLst/>
            <a:ahLst/>
            <a:cxnLst/>
            <a:rect r="r" b="b" t="t" l="l"/>
            <a:pathLst>
              <a:path h="498505" w="498505">
                <a:moveTo>
                  <a:pt x="0" y="0"/>
                </a:moveTo>
                <a:lnTo>
                  <a:pt x="498506" y="0"/>
                </a:lnTo>
                <a:lnTo>
                  <a:pt x="498506" y="498506"/>
                </a:lnTo>
                <a:lnTo>
                  <a:pt x="0" y="498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962685" y="3322754"/>
            <a:ext cx="784768" cy="779863"/>
          </a:xfrm>
          <a:custGeom>
            <a:avLst/>
            <a:gdLst/>
            <a:ahLst/>
            <a:cxnLst/>
            <a:rect r="r" b="b" t="t" l="l"/>
            <a:pathLst>
              <a:path h="779863" w="784768">
                <a:moveTo>
                  <a:pt x="0" y="0"/>
                </a:moveTo>
                <a:lnTo>
                  <a:pt x="784768" y="0"/>
                </a:lnTo>
                <a:lnTo>
                  <a:pt x="784768" y="779863"/>
                </a:lnTo>
                <a:lnTo>
                  <a:pt x="0" y="7798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0097838" y="5697438"/>
            <a:ext cx="553860" cy="551783"/>
          </a:xfrm>
          <a:custGeom>
            <a:avLst/>
            <a:gdLst/>
            <a:ahLst/>
            <a:cxnLst/>
            <a:rect r="r" b="b" t="t" l="l"/>
            <a:pathLst>
              <a:path h="551783" w="553860">
                <a:moveTo>
                  <a:pt x="0" y="0"/>
                </a:moveTo>
                <a:lnTo>
                  <a:pt x="553859" y="0"/>
                </a:lnTo>
                <a:lnTo>
                  <a:pt x="553859" y="551783"/>
                </a:lnTo>
                <a:lnTo>
                  <a:pt x="0" y="551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048786" y="7969406"/>
            <a:ext cx="609600" cy="695692"/>
          </a:xfrm>
          <a:custGeom>
            <a:avLst/>
            <a:gdLst/>
            <a:ahLst/>
            <a:cxnLst/>
            <a:rect r="r" b="b" t="t" l="l"/>
            <a:pathLst>
              <a:path h="695692" w="609600">
                <a:moveTo>
                  <a:pt x="0" y="0"/>
                </a:moveTo>
                <a:lnTo>
                  <a:pt x="609600" y="0"/>
                </a:lnTo>
                <a:lnTo>
                  <a:pt x="609600" y="695692"/>
                </a:lnTo>
                <a:lnTo>
                  <a:pt x="0" y="6956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28700" y="1028700"/>
            <a:ext cx="14273301" cy="1048179"/>
            <a:chOff x="0" y="0"/>
            <a:chExt cx="19031068" cy="1397572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-47625"/>
              <a:ext cx="19031068" cy="68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6"/>
                </a:lnSpc>
                <a:spcBef>
                  <a:spcPct val="0"/>
                </a:spcBef>
              </a:pPr>
              <a:r>
                <a:rPr lang="en-US" b="true" sz="3197">
                  <a:solidFill>
                    <a:srgbClr val="33333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HU01 – CADASTRO DE TCC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913226"/>
              <a:ext cx="19031068" cy="484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7"/>
                </a:lnSpc>
                <a:spcBef>
                  <a:spcPct val="0"/>
                </a:spcBef>
              </a:pPr>
              <a:r>
                <a:rPr lang="en-US" sz="2198">
                  <a:solidFill>
                    <a:srgbClr val="333333"/>
                  </a:solidFill>
                  <a:latin typeface="Garet"/>
                  <a:ea typeface="Garet"/>
                  <a:cs typeface="Garet"/>
                  <a:sym typeface="Garet"/>
                </a:rPr>
                <a:t>Detalhamento da funcionalidade entregue na Sprint 1 – Sistema de Controle de TCC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802156" y="3296267"/>
            <a:ext cx="4495055" cy="866036"/>
            <a:chOff x="0" y="0"/>
            <a:chExt cx="5993406" cy="1154715"/>
          </a:xfrm>
        </p:grpSpPr>
        <p:sp>
          <p:nvSpPr>
            <p:cNvPr name="TextBox 54" id="54"/>
            <p:cNvSpPr txBox="true"/>
            <p:nvPr/>
          </p:nvSpPr>
          <p:spPr>
            <a:xfrm rot="0">
              <a:off x="0" y="0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Objetivo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519715"/>
              <a:ext cx="5993406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sz="1598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Permitir o cadastro completo de Trabalhos de Conclusão de Curso no sistema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802156" y="5586642"/>
            <a:ext cx="4495055" cy="866036"/>
            <a:chOff x="0" y="0"/>
            <a:chExt cx="5993406" cy="1154715"/>
          </a:xfrm>
        </p:grpSpPr>
        <p:sp>
          <p:nvSpPr>
            <p:cNvPr name="TextBox 57" id="57"/>
            <p:cNvSpPr txBox="true"/>
            <p:nvPr/>
          </p:nvSpPr>
          <p:spPr>
            <a:xfrm rot="0">
              <a:off x="0" y="0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Campo: Título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519715"/>
              <a:ext cx="5993406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sz="1598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Registro do título oficial do TCC com validação de campo obrigatório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91469" y="3296267"/>
            <a:ext cx="4495055" cy="866036"/>
            <a:chOff x="0" y="0"/>
            <a:chExt cx="5993406" cy="1154715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0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Campo: Autor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519715"/>
              <a:ext cx="5993406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sz="1598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Identificação do aluno responsável pelo Trabalho de Conclusão de Curso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491469" y="5586642"/>
            <a:ext cx="4495055" cy="866036"/>
            <a:chOff x="0" y="0"/>
            <a:chExt cx="5993406" cy="1154715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0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Campo: Orientador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519715"/>
              <a:ext cx="5993406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sz="1598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Vinculação do professor orientador responsável pela supervisão do TCC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802156" y="7872642"/>
            <a:ext cx="4495055" cy="866036"/>
            <a:chOff x="0" y="0"/>
            <a:chExt cx="5993406" cy="1154715"/>
          </a:xfrm>
        </p:grpSpPr>
        <p:sp>
          <p:nvSpPr>
            <p:cNvPr name="TextBox 66" id="66"/>
            <p:cNvSpPr txBox="true"/>
            <p:nvPr/>
          </p:nvSpPr>
          <p:spPr>
            <a:xfrm rot="0">
              <a:off x="0" y="0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Campo: Status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519715"/>
              <a:ext cx="5993406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sz="1598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Acompanhamento do estágio atual do TCC: Em andamento, Concluído ou Pendente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491469" y="7872642"/>
            <a:ext cx="4495055" cy="866036"/>
            <a:chOff x="0" y="0"/>
            <a:chExt cx="5993406" cy="1154715"/>
          </a:xfrm>
        </p:grpSpPr>
        <p:sp>
          <p:nvSpPr>
            <p:cNvPr name="TextBox 69" id="69"/>
            <p:cNvSpPr txBox="true"/>
            <p:nvPr/>
          </p:nvSpPr>
          <p:spPr>
            <a:xfrm rot="0">
              <a:off x="0" y="0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Validações Implementadas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0" y="519715"/>
              <a:ext cx="5993406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sz="1598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Regras de integridade dos dados garantindo consistência e completude no cadastro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4363" y="2757875"/>
            <a:ext cx="6905625" cy="1905000"/>
            <a:chOff x="0" y="0"/>
            <a:chExt cx="2825596" cy="77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4363" y="5048250"/>
            <a:ext cx="6905625" cy="1905000"/>
            <a:chOff x="0" y="0"/>
            <a:chExt cx="2825596" cy="779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53675" y="2757875"/>
            <a:ext cx="6905625" cy="1905000"/>
            <a:chOff x="0" y="0"/>
            <a:chExt cx="2825596" cy="779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675" y="5048250"/>
            <a:ext cx="6905625" cy="1905000"/>
            <a:chOff x="0" y="0"/>
            <a:chExt cx="2825596" cy="779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074713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09"/>
                </a:lnTo>
                <a:lnTo>
                  <a:pt x="0" y="141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5365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18012" y="3074713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09"/>
                </a:lnTo>
                <a:lnTo>
                  <a:pt x="0" y="141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18012" y="5365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3074713"/>
            <a:ext cx="1271325" cy="127132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5365087"/>
            <a:ext cx="1271325" cy="127132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18012" y="3074713"/>
            <a:ext cx="1271325" cy="127132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8012" y="5365087"/>
            <a:ext cx="1271325" cy="127132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4363" y="7334250"/>
            <a:ext cx="6905625" cy="1905000"/>
            <a:chOff x="0" y="0"/>
            <a:chExt cx="2825596" cy="7794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53675" y="7334250"/>
            <a:ext cx="6905625" cy="1905000"/>
            <a:chOff x="0" y="0"/>
            <a:chExt cx="2825596" cy="7794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028700" y="7651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718012" y="7651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28700" y="7651087"/>
            <a:ext cx="1271325" cy="127132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18012" y="7651087"/>
            <a:ext cx="1271325" cy="127132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C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371169" y="5745373"/>
            <a:ext cx="538164" cy="541324"/>
          </a:xfrm>
          <a:custGeom>
            <a:avLst/>
            <a:gdLst/>
            <a:ahLst/>
            <a:cxnLst/>
            <a:rect r="r" b="b" t="t" l="l"/>
            <a:pathLst>
              <a:path h="541324" w="538164">
                <a:moveTo>
                  <a:pt x="0" y="0"/>
                </a:moveTo>
                <a:lnTo>
                  <a:pt x="538165" y="0"/>
                </a:lnTo>
                <a:lnTo>
                  <a:pt x="538165" y="541324"/>
                </a:lnTo>
                <a:lnTo>
                  <a:pt x="0" y="541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41590" y="3377007"/>
            <a:ext cx="446621" cy="636652"/>
          </a:xfrm>
          <a:custGeom>
            <a:avLst/>
            <a:gdLst/>
            <a:ahLst/>
            <a:cxnLst/>
            <a:rect r="r" b="b" t="t" l="l"/>
            <a:pathLst>
              <a:path h="636652" w="446621">
                <a:moveTo>
                  <a:pt x="0" y="0"/>
                </a:moveTo>
                <a:lnTo>
                  <a:pt x="446621" y="0"/>
                </a:lnTo>
                <a:lnTo>
                  <a:pt x="446621" y="636652"/>
                </a:lnTo>
                <a:lnTo>
                  <a:pt x="0" y="636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84500" y="7959163"/>
            <a:ext cx="559039" cy="614252"/>
          </a:xfrm>
          <a:custGeom>
            <a:avLst/>
            <a:gdLst/>
            <a:ahLst/>
            <a:cxnLst/>
            <a:rect r="r" b="b" t="t" l="l"/>
            <a:pathLst>
              <a:path h="614252" w="559039">
                <a:moveTo>
                  <a:pt x="0" y="0"/>
                </a:moveTo>
                <a:lnTo>
                  <a:pt x="559039" y="0"/>
                </a:lnTo>
                <a:lnTo>
                  <a:pt x="559039" y="614252"/>
                </a:lnTo>
                <a:lnTo>
                  <a:pt x="0" y="6142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982281" y="3338425"/>
            <a:ext cx="745189" cy="741657"/>
          </a:xfrm>
          <a:custGeom>
            <a:avLst/>
            <a:gdLst/>
            <a:ahLst/>
            <a:cxnLst/>
            <a:rect r="r" b="b" t="t" l="l"/>
            <a:pathLst>
              <a:path h="741657" w="745189">
                <a:moveTo>
                  <a:pt x="0" y="0"/>
                </a:moveTo>
                <a:lnTo>
                  <a:pt x="745189" y="0"/>
                </a:lnTo>
                <a:lnTo>
                  <a:pt x="745189" y="741657"/>
                </a:lnTo>
                <a:lnTo>
                  <a:pt x="0" y="741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0070654" y="5670562"/>
            <a:ext cx="608524" cy="609681"/>
          </a:xfrm>
          <a:custGeom>
            <a:avLst/>
            <a:gdLst/>
            <a:ahLst/>
            <a:cxnLst/>
            <a:rect r="r" b="b" t="t" l="l"/>
            <a:pathLst>
              <a:path h="609681" w="608524">
                <a:moveTo>
                  <a:pt x="0" y="0"/>
                </a:moveTo>
                <a:lnTo>
                  <a:pt x="608524" y="0"/>
                </a:lnTo>
                <a:lnTo>
                  <a:pt x="608524" y="609681"/>
                </a:lnTo>
                <a:lnTo>
                  <a:pt x="0" y="609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049150" y="7920718"/>
            <a:ext cx="609600" cy="748790"/>
          </a:xfrm>
          <a:custGeom>
            <a:avLst/>
            <a:gdLst/>
            <a:ahLst/>
            <a:cxnLst/>
            <a:rect r="r" b="b" t="t" l="l"/>
            <a:pathLst>
              <a:path h="748790" w="609600">
                <a:moveTo>
                  <a:pt x="0" y="0"/>
                </a:moveTo>
                <a:lnTo>
                  <a:pt x="609600" y="0"/>
                </a:lnTo>
                <a:lnTo>
                  <a:pt x="609600" y="748790"/>
                </a:lnTo>
                <a:lnTo>
                  <a:pt x="0" y="7487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28700" y="1028700"/>
            <a:ext cx="14273301" cy="1022822"/>
            <a:chOff x="0" y="0"/>
            <a:chExt cx="19031068" cy="1363762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-47625"/>
              <a:ext cx="19031068" cy="68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6"/>
                </a:lnSpc>
                <a:spcBef>
                  <a:spcPct val="0"/>
                </a:spcBef>
              </a:pPr>
              <a:r>
                <a:rPr lang="en-US" b="true" sz="3197">
                  <a:solidFill>
                    <a:srgbClr val="33333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HU02 – CADASTRO DE ATIVIDADES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903701"/>
              <a:ext cx="19031068" cy="460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0"/>
                </a:lnSpc>
                <a:spcBef>
                  <a:spcPct val="0"/>
                </a:spcBef>
              </a:pPr>
              <a:r>
                <a:rPr lang="en-US" sz="2071">
                  <a:solidFill>
                    <a:srgbClr val="333333"/>
                  </a:solidFill>
                  <a:latin typeface="Garet"/>
                  <a:ea typeface="Garet"/>
                  <a:cs typeface="Garet"/>
                  <a:sym typeface="Garet"/>
                </a:rPr>
                <a:t>Registro e gerenciamento de atividades vinculadas aos TCCs no Sistema de Controle de TCC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802156" y="3296267"/>
            <a:ext cx="4495055" cy="837461"/>
            <a:chOff x="0" y="0"/>
            <a:chExt cx="5993406" cy="1116615"/>
          </a:xfrm>
        </p:grpSpPr>
        <p:sp>
          <p:nvSpPr>
            <p:cNvPr name="TextBox 54" id="54"/>
            <p:cNvSpPr txBox="true"/>
            <p:nvPr/>
          </p:nvSpPr>
          <p:spPr>
            <a:xfrm rot="0">
              <a:off x="0" y="0"/>
              <a:ext cx="5993406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b="true" sz="150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Descrição da Atividade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507015"/>
              <a:ext cx="599340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sz="150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Campo para registrar detalhes completos de cada atividade vinculada ao TCC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802156" y="5586642"/>
            <a:ext cx="4495055" cy="837461"/>
            <a:chOff x="0" y="0"/>
            <a:chExt cx="5993406" cy="1116615"/>
          </a:xfrm>
        </p:grpSpPr>
        <p:sp>
          <p:nvSpPr>
            <p:cNvPr name="TextBox 57" id="57"/>
            <p:cNvSpPr txBox="true"/>
            <p:nvPr/>
          </p:nvSpPr>
          <p:spPr>
            <a:xfrm rot="0">
              <a:off x="0" y="0"/>
              <a:ext cx="5993406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b="true" sz="150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Data da Atividade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507015"/>
              <a:ext cx="599340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sz="150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Registro da data de execução e prazo limite para controle de cronograma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91469" y="3296267"/>
            <a:ext cx="4495055" cy="837461"/>
            <a:chOff x="0" y="0"/>
            <a:chExt cx="5993406" cy="1116615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0"/>
              <a:ext cx="5993406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b="true" sz="150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Responsável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507015"/>
              <a:ext cx="599340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sz="150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Identificação do membro responsável pela execução de cada atividade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491469" y="5586642"/>
            <a:ext cx="4495055" cy="837461"/>
            <a:chOff x="0" y="0"/>
            <a:chExt cx="5993406" cy="1116615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0"/>
              <a:ext cx="5993406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b="true" sz="150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Status da Atividade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507015"/>
              <a:ext cx="599340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sz="150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Indicador de progresso: Pendente, Em Andamento ou Concluída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802156" y="7872642"/>
            <a:ext cx="4495055" cy="837461"/>
            <a:chOff x="0" y="0"/>
            <a:chExt cx="5993406" cy="1116615"/>
          </a:xfrm>
        </p:grpSpPr>
        <p:sp>
          <p:nvSpPr>
            <p:cNvPr name="TextBox 66" id="66"/>
            <p:cNvSpPr txBox="true"/>
            <p:nvPr/>
          </p:nvSpPr>
          <p:spPr>
            <a:xfrm rot="0">
              <a:off x="0" y="0"/>
              <a:ext cx="5993406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b="true" sz="150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Notificações de Prazos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507015"/>
              <a:ext cx="599340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sz="150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Alertas automáticos para atividades próximas ao vencimento ou em atraso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491469" y="7872642"/>
            <a:ext cx="4495055" cy="837461"/>
            <a:chOff x="0" y="0"/>
            <a:chExt cx="5993406" cy="1116615"/>
          </a:xfrm>
        </p:grpSpPr>
        <p:sp>
          <p:nvSpPr>
            <p:cNvPr name="TextBox 69" id="69"/>
            <p:cNvSpPr txBox="true"/>
            <p:nvPr/>
          </p:nvSpPr>
          <p:spPr>
            <a:xfrm rot="0">
              <a:off x="0" y="0"/>
              <a:ext cx="5993406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b="true" sz="150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Validações Implementadas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0" y="507015"/>
              <a:ext cx="599340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8"/>
                </a:lnSpc>
              </a:pPr>
              <a:r>
                <a:rPr lang="en-US" sz="150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Verificações de integridade garantem consistência e confiabilidade dos dados registrados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4363" y="2757875"/>
            <a:ext cx="6905625" cy="1905000"/>
            <a:chOff x="0" y="0"/>
            <a:chExt cx="2825596" cy="77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4363" y="5048250"/>
            <a:ext cx="6905625" cy="1905000"/>
            <a:chOff x="0" y="0"/>
            <a:chExt cx="2825596" cy="779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53675" y="2757875"/>
            <a:ext cx="6905625" cy="1905000"/>
            <a:chOff x="0" y="0"/>
            <a:chExt cx="2825596" cy="779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675" y="5048250"/>
            <a:ext cx="6905625" cy="1905000"/>
            <a:chOff x="0" y="0"/>
            <a:chExt cx="2825596" cy="779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074713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09"/>
                </a:lnTo>
                <a:lnTo>
                  <a:pt x="0" y="141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5365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18012" y="3074713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09"/>
                </a:lnTo>
                <a:lnTo>
                  <a:pt x="0" y="141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18012" y="5365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3074713"/>
            <a:ext cx="1271325" cy="127132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5365087"/>
            <a:ext cx="1271325" cy="127132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18012" y="3074713"/>
            <a:ext cx="1271325" cy="127132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8012" y="5365087"/>
            <a:ext cx="1271325" cy="127132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4363" y="7334250"/>
            <a:ext cx="6905625" cy="1905000"/>
            <a:chOff x="0" y="0"/>
            <a:chExt cx="2825596" cy="7794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53675" y="7334250"/>
            <a:ext cx="6905625" cy="1905000"/>
            <a:chOff x="0" y="0"/>
            <a:chExt cx="2825596" cy="7794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25596" cy="779475"/>
            </a:xfrm>
            <a:custGeom>
              <a:avLst/>
              <a:gdLst/>
              <a:ahLst/>
              <a:cxnLst/>
              <a:rect r="r" b="b" t="t" l="l"/>
              <a:pathLst>
                <a:path h="779475" w="2825596">
                  <a:moveTo>
                    <a:pt x="2622396" y="0"/>
                  </a:moveTo>
                  <a:lnTo>
                    <a:pt x="0" y="0"/>
                  </a:lnTo>
                  <a:lnTo>
                    <a:pt x="0" y="779475"/>
                  </a:lnTo>
                  <a:lnTo>
                    <a:pt x="2622396" y="779475"/>
                  </a:lnTo>
                  <a:lnTo>
                    <a:pt x="2825596" y="389737"/>
                  </a:lnTo>
                  <a:lnTo>
                    <a:pt x="262239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711296" cy="8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028700" y="7651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1" y="0"/>
                </a:lnTo>
                <a:lnTo>
                  <a:pt x="1414481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718012" y="7651087"/>
            <a:ext cx="1414481" cy="1411910"/>
          </a:xfrm>
          <a:custGeom>
            <a:avLst/>
            <a:gdLst/>
            <a:ahLst/>
            <a:cxnLst/>
            <a:rect r="r" b="b" t="t" l="l"/>
            <a:pathLst>
              <a:path h="1411910" w="1414481">
                <a:moveTo>
                  <a:pt x="0" y="0"/>
                </a:moveTo>
                <a:lnTo>
                  <a:pt x="1414482" y="0"/>
                </a:lnTo>
                <a:lnTo>
                  <a:pt x="1414482" y="1411910"/>
                </a:lnTo>
                <a:lnTo>
                  <a:pt x="0" y="141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28700" y="7651087"/>
            <a:ext cx="1271325" cy="127132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18012" y="7651087"/>
            <a:ext cx="1271325" cy="127132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C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348995" y="5733489"/>
            <a:ext cx="582184" cy="581455"/>
          </a:xfrm>
          <a:custGeom>
            <a:avLst/>
            <a:gdLst/>
            <a:ahLst/>
            <a:cxnLst/>
            <a:rect r="r" b="b" t="t" l="l"/>
            <a:pathLst>
              <a:path h="581455" w="582184">
                <a:moveTo>
                  <a:pt x="0" y="0"/>
                </a:moveTo>
                <a:lnTo>
                  <a:pt x="582184" y="0"/>
                </a:lnTo>
                <a:lnTo>
                  <a:pt x="582184" y="581455"/>
                </a:lnTo>
                <a:lnTo>
                  <a:pt x="0" y="581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85398" y="3336370"/>
            <a:ext cx="652895" cy="612953"/>
          </a:xfrm>
          <a:custGeom>
            <a:avLst/>
            <a:gdLst/>
            <a:ahLst/>
            <a:cxnLst/>
            <a:rect r="r" b="b" t="t" l="l"/>
            <a:pathLst>
              <a:path h="612953" w="652895">
                <a:moveTo>
                  <a:pt x="0" y="0"/>
                </a:moveTo>
                <a:lnTo>
                  <a:pt x="652895" y="0"/>
                </a:lnTo>
                <a:lnTo>
                  <a:pt x="652895" y="612953"/>
                </a:lnTo>
                <a:lnTo>
                  <a:pt x="0" y="612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15572" y="8034942"/>
            <a:ext cx="495583" cy="509609"/>
          </a:xfrm>
          <a:custGeom>
            <a:avLst/>
            <a:gdLst/>
            <a:ahLst/>
            <a:cxnLst/>
            <a:rect r="r" b="b" t="t" l="l"/>
            <a:pathLst>
              <a:path h="509609" w="495583">
                <a:moveTo>
                  <a:pt x="0" y="0"/>
                </a:moveTo>
                <a:lnTo>
                  <a:pt x="495583" y="0"/>
                </a:lnTo>
                <a:lnTo>
                  <a:pt x="495583" y="509608"/>
                </a:lnTo>
                <a:lnTo>
                  <a:pt x="0" y="509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0049772" y="3416357"/>
            <a:ext cx="600145" cy="596034"/>
          </a:xfrm>
          <a:custGeom>
            <a:avLst/>
            <a:gdLst/>
            <a:ahLst/>
            <a:cxnLst/>
            <a:rect r="r" b="b" t="t" l="l"/>
            <a:pathLst>
              <a:path h="596034" w="600145">
                <a:moveTo>
                  <a:pt x="0" y="0"/>
                </a:moveTo>
                <a:lnTo>
                  <a:pt x="600145" y="0"/>
                </a:lnTo>
                <a:lnTo>
                  <a:pt x="600145" y="596034"/>
                </a:lnTo>
                <a:lnTo>
                  <a:pt x="0" y="596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950990" y="5669817"/>
            <a:ext cx="847344" cy="608018"/>
          </a:xfrm>
          <a:custGeom>
            <a:avLst/>
            <a:gdLst/>
            <a:ahLst/>
            <a:cxnLst/>
            <a:rect r="r" b="b" t="t" l="l"/>
            <a:pathLst>
              <a:path h="608018" w="847344">
                <a:moveTo>
                  <a:pt x="0" y="0"/>
                </a:moveTo>
                <a:lnTo>
                  <a:pt x="847344" y="0"/>
                </a:lnTo>
                <a:lnTo>
                  <a:pt x="847344" y="608018"/>
                </a:lnTo>
                <a:lnTo>
                  <a:pt x="0" y="608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068736" y="7945769"/>
            <a:ext cx="567511" cy="687664"/>
          </a:xfrm>
          <a:custGeom>
            <a:avLst/>
            <a:gdLst/>
            <a:ahLst/>
            <a:cxnLst/>
            <a:rect r="r" b="b" t="t" l="l"/>
            <a:pathLst>
              <a:path h="687664" w="567511">
                <a:moveTo>
                  <a:pt x="0" y="0"/>
                </a:moveTo>
                <a:lnTo>
                  <a:pt x="567510" y="0"/>
                </a:lnTo>
                <a:lnTo>
                  <a:pt x="567510" y="687665"/>
                </a:lnTo>
                <a:lnTo>
                  <a:pt x="0" y="6876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28700" y="1028700"/>
            <a:ext cx="14273301" cy="1015052"/>
            <a:chOff x="0" y="0"/>
            <a:chExt cx="19031068" cy="1353402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-47625"/>
              <a:ext cx="19031068" cy="68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6"/>
                </a:lnSpc>
                <a:spcBef>
                  <a:spcPct val="0"/>
                </a:spcBef>
              </a:pPr>
              <a:r>
                <a:rPr lang="en-US" b="true" sz="3197">
                  <a:solidFill>
                    <a:srgbClr val="33333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HU03 – DASHBOARD DE PROGRESSO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913226"/>
              <a:ext cx="19031068" cy="440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3"/>
                </a:lnSpc>
                <a:spcBef>
                  <a:spcPct val="0"/>
                </a:spcBef>
              </a:pPr>
              <a:r>
                <a:rPr lang="en-US" sz="2002">
                  <a:solidFill>
                    <a:srgbClr val="333333"/>
                  </a:solidFill>
                  <a:latin typeface="Garet"/>
                  <a:ea typeface="Garet"/>
                  <a:cs typeface="Garet"/>
                  <a:sym typeface="Garet"/>
                </a:rPr>
                <a:t>Visão geral do progresso dos TCCs e atividades com interface intuitiva para acompanhamento rápido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802156" y="3296267"/>
            <a:ext cx="4495055" cy="808886"/>
            <a:chOff x="0" y="0"/>
            <a:chExt cx="5993406" cy="1078515"/>
          </a:xfrm>
        </p:grpSpPr>
        <p:sp>
          <p:nvSpPr>
            <p:cNvPr name="TextBox 54" id="54"/>
            <p:cNvSpPr txBox="true"/>
            <p:nvPr/>
          </p:nvSpPr>
          <p:spPr>
            <a:xfrm rot="0">
              <a:off x="0" y="0"/>
              <a:ext cx="5993406" cy="29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b="true" sz="145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Visão Geral dos TCCs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494315"/>
              <a:ext cx="5993406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sz="145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Painel centralizado com todos os TCCs cadastrados e seus respectivos status de andamento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802156" y="5586642"/>
            <a:ext cx="4495055" cy="808886"/>
            <a:chOff x="0" y="0"/>
            <a:chExt cx="5993406" cy="1078515"/>
          </a:xfrm>
        </p:grpSpPr>
        <p:sp>
          <p:nvSpPr>
            <p:cNvPr name="TextBox 57" id="57"/>
            <p:cNvSpPr txBox="true"/>
            <p:nvPr/>
          </p:nvSpPr>
          <p:spPr>
            <a:xfrm rot="0">
              <a:off x="0" y="0"/>
              <a:ext cx="5993406" cy="29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b="true" sz="145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Indicadores de Status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494315"/>
              <a:ext cx="5993406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sz="145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Exibição visual dos status: Em andamento, Concluído, Pendente e Atrasado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91469" y="3296267"/>
            <a:ext cx="4495055" cy="808886"/>
            <a:chOff x="0" y="0"/>
            <a:chExt cx="5993406" cy="1078515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0"/>
              <a:ext cx="5993406" cy="29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b="true" sz="145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Controle de Prazos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494315"/>
              <a:ext cx="5993406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sz="145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Monitoramento de datas e prazos das atividades vinculadas a cada TCC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491469" y="5586642"/>
            <a:ext cx="4495055" cy="808886"/>
            <a:chOff x="0" y="0"/>
            <a:chExt cx="5993406" cy="1078515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0"/>
              <a:ext cx="5993406" cy="29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b="true" sz="145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Percentual de Conclusão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494315"/>
              <a:ext cx="5993406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sz="145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Cálculo automático do percentual de conclusão por TCC com base nas atividades registradas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802156" y="7872642"/>
            <a:ext cx="4495055" cy="808886"/>
            <a:chOff x="0" y="0"/>
            <a:chExt cx="5993406" cy="1078515"/>
          </a:xfrm>
        </p:grpSpPr>
        <p:sp>
          <p:nvSpPr>
            <p:cNvPr name="TextBox 66" id="66"/>
            <p:cNvSpPr txBox="true"/>
            <p:nvPr/>
          </p:nvSpPr>
          <p:spPr>
            <a:xfrm rot="0">
              <a:off x="0" y="0"/>
              <a:ext cx="5993406" cy="29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b="true" sz="145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Interface Intuitiva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494315"/>
              <a:ext cx="5993406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sz="145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Design limpo e organizado para facilitar o acompanhamento rápido por orientadores e alunos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491469" y="7872642"/>
            <a:ext cx="4495055" cy="808886"/>
            <a:chOff x="0" y="0"/>
            <a:chExt cx="5993406" cy="1078515"/>
          </a:xfrm>
        </p:grpSpPr>
        <p:sp>
          <p:nvSpPr>
            <p:cNvPr name="TextBox 69" id="69"/>
            <p:cNvSpPr txBox="true"/>
            <p:nvPr/>
          </p:nvSpPr>
          <p:spPr>
            <a:xfrm rot="0">
              <a:off x="0" y="0"/>
              <a:ext cx="5993406" cy="29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b="true" sz="1456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Atualização em Tempo Real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0" y="494315"/>
              <a:ext cx="5993406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47"/>
                </a:lnSpc>
              </a:pPr>
              <a:r>
                <a:rPr lang="en-US" sz="1456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Dashboard atualizado automaticamente conforme novas atividades são cadastradas ou modificadas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0416"/>
            <a:ext cx="6629666" cy="109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FEEDBACK DO</a:t>
            </a:r>
          </a:p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PRODUCT OWNER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05354"/>
            <a:ext cx="6629666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9"/>
              </a:lnSpc>
              <a:spcBef>
                <a:spcPct val="0"/>
              </a:spcBef>
            </a:pPr>
            <a:r>
              <a:rPr lang="en-US" sz="164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Avaliação e comentários recebidos ao final da Sprint 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36637" y="8288711"/>
            <a:ext cx="8449966" cy="945247"/>
            <a:chOff x="0" y="0"/>
            <a:chExt cx="2225505" cy="248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14582" y="8288711"/>
            <a:ext cx="1209936" cy="943610"/>
            <a:chOff x="0" y="0"/>
            <a:chExt cx="540403" cy="4214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66755" y="7971366"/>
            <a:ext cx="915527" cy="1572684"/>
            <a:chOff x="0" y="0"/>
            <a:chExt cx="588238" cy="1010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56568" y="8523210"/>
            <a:ext cx="148294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Interface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Organizada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40235" y="8523210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Layout claro e intuitivo, facilitando a navegação e o uso do sistema pelos usuários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504811" y="6716293"/>
            <a:ext cx="8449966" cy="945247"/>
            <a:chOff x="0" y="0"/>
            <a:chExt cx="2225505" cy="2489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63397" y="6716293"/>
            <a:ext cx="1281368" cy="943610"/>
            <a:chOff x="0" y="0"/>
            <a:chExt cx="572307" cy="4214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307" cy="421452"/>
            </a:xfrm>
            <a:custGeom>
              <a:avLst/>
              <a:gdLst/>
              <a:ahLst/>
              <a:cxnLst/>
              <a:rect r="r" b="b" t="t" l="l"/>
              <a:pathLst>
                <a:path h="421452" w="572307">
                  <a:moveTo>
                    <a:pt x="203200" y="0"/>
                  </a:moveTo>
                  <a:lnTo>
                    <a:pt x="369107" y="0"/>
                  </a:lnTo>
                  <a:lnTo>
                    <a:pt x="572307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-28575"/>
              <a:ext cx="318307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15570" y="6398947"/>
            <a:ext cx="915527" cy="1572684"/>
            <a:chOff x="0" y="0"/>
            <a:chExt cx="588238" cy="1010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005383" y="6950791"/>
            <a:ext cx="193654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Requisitos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Atendidos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89050" y="6950791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Todas as histórias de usuário da Sprint 1 foram implementadas conforme o esperado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272986" y="5143874"/>
            <a:ext cx="8449966" cy="945247"/>
            <a:chOff x="0" y="0"/>
            <a:chExt cx="2225505" cy="2489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12212" y="5143874"/>
            <a:ext cx="1209936" cy="943610"/>
            <a:chOff x="0" y="0"/>
            <a:chExt cx="540403" cy="4214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4385" y="4826528"/>
            <a:ext cx="915527" cy="1572684"/>
            <a:chOff x="0" y="0"/>
            <a:chExt cx="588238" cy="10104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854197" y="5378372"/>
            <a:ext cx="138113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Dashboard Fácil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37865" y="5378372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Dashboard de progresso considerado intuitivo e de fácil utilização pelo Product Owner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041160" y="3571455"/>
            <a:ext cx="8449966" cy="945247"/>
            <a:chOff x="0" y="0"/>
            <a:chExt cx="2225505" cy="2489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61027" y="3571455"/>
            <a:ext cx="1281368" cy="943610"/>
            <a:chOff x="0" y="0"/>
            <a:chExt cx="572307" cy="4214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2307" cy="421452"/>
            </a:xfrm>
            <a:custGeom>
              <a:avLst/>
              <a:gdLst/>
              <a:ahLst/>
              <a:cxnLst/>
              <a:rect r="r" b="b" t="t" l="l"/>
              <a:pathLst>
                <a:path h="421452" w="572307">
                  <a:moveTo>
                    <a:pt x="203200" y="0"/>
                  </a:moveTo>
                  <a:lnTo>
                    <a:pt x="369107" y="0"/>
                  </a:lnTo>
                  <a:lnTo>
                    <a:pt x="572307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-28575"/>
              <a:ext cx="318307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13199" y="3254109"/>
            <a:ext cx="915527" cy="1572684"/>
            <a:chOff x="0" y="0"/>
            <a:chExt cx="588238" cy="1010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703012" y="3805953"/>
            <a:ext cx="117228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Documentação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Clara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86680" y="3805953"/>
            <a:ext cx="409446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Documentação técnica e funcional bem estruturada, facilitando futuras manutenções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809334" y="1999036"/>
            <a:ext cx="8449966" cy="945247"/>
            <a:chOff x="0" y="0"/>
            <a:chExt cx="2225505" cy="2489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809842" y="1999036"/>
            <a:ext cx="1209936" cy="943610"/>
            <a:chOff x="0" y="0"/>
            <a:chExt cx="540403" cy="4214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562014" y="1681691"/>
            <a:ext cx="915527" cy="1572684"/>
            <a:chOff x="0" y="0"/>
            <a:chExt cx="588238" cy="10104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551827" y="2233534"/>
            <a:ext cx="13811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MVP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Aprovado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935495" y="2233534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Sprint 1 aprovada com sucesso — MVP validado e pronto para evolução nas próximas Sprints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504811" y="8473362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346804" y="6903166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188798" y="5332970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030791" y="3762774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872784" y="2192578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364475"/>
            <a:ext cx="2705100" cy="3086100"/>
            <a:chOff x="0" y="0"/>
            <a:chExt cx="71245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454" cy="812800"/>
            </a:xfrm>
            <a:custGeom>
              <a:avLst/>
              <a:gdLst/>
              <a:ahLst/>
              <a:cxnLst/>
              <a:rect r="r" b="b" t="t" l="l"/>
              <a:pathLst>
                <a:path h="812800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12454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33800" y="5694175"/>
            <a:ext cx="2705100" cy="3756399"/>
            <a:chOff x="0" y="0"/>
            <a:chExt cx="712454" cy="9893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2454" cy="989340"/>
            </a:xfrm>
            <a:custGeom>
              <a:avLst/>
              <a:gdLst/>
              <a:ahLst/>
              <a:cxnLst/>
              <a:rect r="r" b="b" t="t" l="l"/>
              <a:pathLst>
                <a:path h="989340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989340"/>
                  </a:lnTo>
                  <a:lnTo>
                    <a:pt x="0" y="989340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12454" cy="101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38900" y="5025651"/>
            <a:ext cx="2705100" cy="4424924"/>
            <a:chOff x="0" y="0"/>
            <a:chExt cx="712454" cy="1165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2454" cy="1165412"/>
            </a:xfrm>
            <a:custGeom>
              <a:avLst/>
              <a:gdLst/>
              <a:ahLst/>
              <a:cxnLst/>
              <a:rect r="r" b="b" t="t" l="l"/>
              <a:pathLst>
                <a:path h="1165412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165412"/>
                  </a:lnTo>
                  <a:lnTo>
                    <a:pt x="0" y="1165412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12454" cy="1193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343242" y="493217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9250" y="5654086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5"/>
                </a:lnTo>
                <a:lnTo>
                  <a:pt x="0" y="1692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48342" y="4272864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5"/>
                </a:lnTo>
                <a:lnTo>
                  <a:pt x="0" y="1692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19250" y="5602475"/>
            <a:ext cx="1524000" cy="15240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24350" y="4932175"/>
            <a:ext cx="1524000" cy="15240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29450" y="4263651"/>
            <a:ext cx="1524000" cy="15240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0" y="4357126"/>
            <a:ext cx="2705100" cy="5093448"/>
            <a:chOff x="0" y="0"/>
            <a:chExt cx="712454" cy="13414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2454" cy="1341484"/>
            </a:xfrm>
            <a:custGeom>
              <a:avLst/>
              <a:gdLst/>
              <a:ahLst/>
              <a:cxnLst/>
              <a:rect r="r" b="b" t="t" l="l"/>
              <a:pathLst>
                <a:path h="1341484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341484"/>
                  </a:lnTo>
                  <a:lnTo>
                    <a:pt x="0" y="1341484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12454" cy="137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753442" y="3613552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5"/>
                </a:lnTo>
                <a:lnTo>
                  <a:pt x="0" y="1692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734550" y="3595126"/>
            <a:ext cx="1524000" cy="15240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49100" y="3688602"/>
            <a:ext cx="2705100" cy="5761973"/>
            <a:chOff x="0" y="0"/>
            <a:chExt cx="712454" cy="15175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2454" cy="1517557"/>
            </a:xfrm>
            <a:custGeom>
              <a:avLst/>
              <a:gdLst/>
              <a:ahLst/>
              <a:cxnLst/>
              <a:rect r="r" b="b" t="t" l="l"/>
              <a:pathLst>
                <a:path h="1517557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517557"/>
                  </a:lnTo>
                  <a:lnTo>
                    <a:pt x="0" y="1517557"/>
                  </a:ln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712454" cy="1546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2458542" y="2954240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5"/>
                </a:lnTo>
                <a:lnTo>
                  <a:pt x="0" y="1692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439650" y="2926602"/>
            <a:ext cx="1524000" cy="15240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554200" y="3020077"/>
            <a:ext cx="2705100" cy="6430497"/>
            <a:chOff x="0" y="0"/>
            <a:chExt cx="712454" cy="16936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2454" cy="1693629"/>
            </a:xfrm>
            <a:custGeom>
              <a:avLst/>
              <a:gdLst/>
              <a:ahLst/>
              <a:cxnLst/>
              <a:rect r="r" b="b" t="t" l="l"/>
              <a:pathLst>
                <a:path h="1693629" w="712454">
                  <a:moveTo>
                    <a:pt x="0" y="0"/>
                  </a:moveTo>
                  <a:lnTo>
                    <a:pt x="712454" y="0"/>
                  </a:lnTo>
                  <a:lnTo>
                    <a:pt x="712454" y="1693629"/>
                  </a:lnTo>
                  <a:lnTo>
                    <a:pt x="0" y="1693629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12454" cy="1722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5163642" y="2294928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5"/>
                </a:lnTo>
                <a:lnTo>
                  <a:pt x="0" y="1692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5144750" y="2258077"/>
            <a:ext cx="1524000" cy="1524000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>
            <a:off x="2381250" y="4741163"/>
            <a:ext cx="2705100" cy="861311"/>
          </a:xfrm>
          <a:custGeom>
            <a:avLst/>
            <a:gdLst/>
            <a:ahLst/>
            <a:cxnLst/>
            <a:rect r="r" b="b" t="t" l="l"/>
            <a:pathLst>
              <a:path h="861311" w="2705100">
                <a:moveTo>
                  <a:pt x="0" y="861312"/>
                </a:moveTo>
                <a:quadBezTo>
                  <a:pt x="940636" y="-405611"/>
                  <a:pt x="2705100" y="191012"/>
                </a:quadBezTo>
              </a:path>
            </a:pathLst>
          </a:custGeom>
          <a:ln cap="flat" w="38100">
            <a:solidFill>
              <a:srgbClr val="C1C7D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>
            <a:off x="5128425" y="4073028"/>
            <a:ext cx="2705100" cy="845207"/>
          </a:xfrm>
          <a:custGeom>
            <a:avLst/>
            <a:gdLst/>
            <a:ahLst/>
            <a:cxnLst/>
            <a:rect r="r" b="b" t="t" l="l"/>
            <a:pathLst>
              <a:path h="845207" w="2705100">
                <a:moveTo>
                  <a:pt x="0" y="845207"/>
                </a:moveTo>
                <a:quadBezTo>
                  <a:pt x="961489" y="-384492"/>
                  <a:pt x="2705100" y="174907"/>
                </a:quadBezTo>
              </a:path>
            </a:pathLst>
          </a:custGeom>
          <a:ln cap="flat" w="38100">
            <a:solidFill>
              <a:srgbClr val="C1C7D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>
            <a:off x="7875600" y="3355314"/>
            <a:ext cx="2705100" cy="878681"/>
          </a:xfrm>
          <a:custGeom>
            <a:avLst/>
            <a:gdLst/>
            <a:ahLst/>
            <a:cxnLst/>
            <a:rect r="r" b="b" t="t" l="l"/>
            <a:pathLst>
              <a:path h="878681" w="2705100">
                <a:moveTo>
                  <a:pt x="0" y="878681"/>
                </a:moveTo>
                <a:quadBezTo>
                  <a:pt x="982347" y="-427903"/>
                  <a:pt x="2705100" y="208382"/>
                </a:quadBezTo>
              </a:path>
            </a:pathLst>
          </a:custGeom>
          <a:ln cap="flat" w="38100">
            <a:solidFill>
              <a:srgbClr val="C1C7D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7" id="47"/>
          <p:cNvSpPr/>
          <p:nvPr/>
        </p:nvSpPr>
        <p:spPr>
          <a:xfrm>
            <a:off x="10622775" y="2687384"/>
            <a:ext cx="2705100" cy="862371"/>
          </a:xfrm>
          <a:custGeom>
            <a:avLst/>
            <a:gdLst/>
            <a:ahLst/>
            <a:cxnLst/>
            <a:rect r="r" b="b" t="t" l="l"/>
            <a:pathLst>
              <a:path h="862371" w="2705100">
                <a:moveTo>
                  <a:pt x="0" y="862371"/>
                </a:moveTo>
                <a:quadBezTo>
                  <a:pt x="927113" y="-406985"/>
                  <a:pt x="2705100" y="192072"/>
                </a:quadBezTo>
              </a:path>
            </a:pathLst>
          </a:custGeom>
          <a:ln cap="flat" w="38100">
            <a:solidFill>
              <a:srgbClr val="C1C7D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>
            <a:off x="13369950" y="1920657"/>
            <a:ext cx="2705100" cy="944858"/>
          </a:xfrm>
          <a:custGeom>
            <a:avLst/>
            <a:gdLst/>
            <a:ahLst/>
            <a:cxnLst/>
            <a:rect r="r" b="b" t="t" l="l"/>
            <a:pathLst>
              <a:path h="944858" w="2705100">
                <a:moveTo>
                  <a:pt x="0" y="944858"/>
                </a:moveTo>
                <a:quadBezTo>
                  <a:pt x="1075262" y="-509332"/>
                  <a:pt x="2705100" y="274559"/>
                </a:quadBezTo>
              </a:path>
            </a:pathLst>
          </a:custGeom>
          <a:ln cap="flat" w="38100">
            <a:solidFill>
              <a:srgbClr val="C1C7D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4817555" y="5380594"/>
            <a:ext cx="551750" cy="673040"/>
          </a:xfrm>
          <a:custGeom>
            <a:avLst/>
            <a:gdLst/>
            <a:ahLst/>
            <a:cxnLst/>
            <a:rect r="r" b="b" t="t" l="l"/>
            <a:pathLst>
              <a:path h="673040" w="551750">
                <a:moveTo>
                  <a:pt x="0" y="0"/>
                </a:moveTo>
                <a:lnTo>
                  <a:pt x="551750" y="0"/>
                </a:lnTo>
                <a:lnTo>
                  <a:pt x="551750" y="673039"/>
                </a:lnTo>
                <a:lnTo>
                  <a:pt x="0" y="673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7476039" y="4627709"/>
            <a:ext cx="630845" cy="730621"/>
          </a:xfrm>
          <a:custGeom>
            <a:avLst/>
            <a:gdLst/>
            <a:ahLst/>
            <a:cxnLst/>
            <a:rect r="r" b="b" t="t" l="l"/>
            <a:pathLst>
              <a:path h="730621" w="630845">
                <a:moveTo>
                  <a:pt x="0" y="0"/>
                </a:moveTo>
                <a:lnTo>
                  <a:pt x="630845" y="0"/>
                </a:lnTo>
                <a:lnTo>
                  <a:pt x="630845" y="730622"/>
                </a:lnTo>
                <a:lnTo>
                  <a:pt x="0" y="730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057049" y="3924367"/>
            <a:ext cx="840761" cy="679025"/>
          </a:xfrm>
          <a:custGeom>
            <a:avLst/>
            <a:gdLst/>
            <a:ahLst/>
            <a:cxnLst/>
            <a:rect r="r" b="b" t="t" l="l"/>
            <a:pathLst>
              <a:path h="679025" w="840761">
                <a:moveTo>
                  <a:pt x="0" y="0"/>
                </a:moveTo>
                <a:lnTo>
                  <a:pt x="840760" y="0"/>
                </a:lnTo>
                <a:lnTo>
                  <a:pt x="840760" y="679025"/>
                </a:lnTo>
                <a:lnTo>
                  <a:pt x="0" y="679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926579" y="3313837"/>
            <a:ext cx="559273" cy="740301"/>
          </a:xfrm>
          <a:custGeom>
            <a:avLst/>
            <a:gdLst/>
            <a:ahLst/>
            <a:cxnLst/>
            <a:rect r="r" b="b" t="t" l="l"/>
            <a:pathLst>
              <a:path h="740301" w="559273">
                <a:moveTo>
                  <a:pt x="0" y="0"/>
                </a:moveTo>
                <a:lnTo>
                  <a:pt x="559274" y="0"/>
                </a:lnTo>
                <a:lnTo>
                  <a:pt x="559274" y="740301"/>
                </a:lnTo>
                <a:lnTo>
                  <a:pt x="0" y="7403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5605482" y="2680582"/>
            <a:ext cx="587851" cy="703116"/>
          </a:xfrm>
          <a:custGeom>
            <a:avLst/>
            <a:gdLst/>
            <a:ahLst/>
            <a:cxnLst/>
            <a:rect r="r" b="b" t="t" l="l"/>
            <a:pathLst>
              <a:path h="703116" w="587851">
                <a:moveTo>
                  <a:pt x="0" y="0"/>
                </a:moveTo>
                <a:lnTo>
                  <a:pt x="587851" y="0"/>
                </a:lnTo>
                <a:lnTo>
                  <a:pt x="587851" y="703116"/>
                </a:lnTo>
                <a:lnTo>
                  <a:pt x="0" y="7031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028700" y="1028700"/>
            <a:ext cx="7715250" cy="1366835"/>
            <a:chOff x="0" y="0"/>
            <a:chExt cx="10287000" cy="1822446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-47625"/>
              <a:ext cx="10287000" cy="688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33333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MELHORIAS FUTURAS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903625"/>
              <a:ext cx="10287000" cy="918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025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Funcionalidades planejadas para os próximos sprints e refinamento do backlog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80018" y="7499011"/>
            <a:ext cx="2227252" cy="1466111"/>
            <a:chOff x="0" y="0"/>
            <a:chExt cx="2969669" cy="1954815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0"/>
              <a:ext cx="2969669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b="true" sz="1473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Edição e Exclusão de TCCs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786415"/>
              <a:ext cx="2969669" cy="1168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sz="1473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Permitir editar e remover registros de TCCs com controle de permissões e histórico de alterações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133850" y="6829794"/>
            <a:ext cx="1905000" cy="1466111"/>
            <a:chOff x="0" y="0"/>
            <a:chExt cx="2540000" cy="1954815"/>
          </a:xfrm>
        </p:grpSpPr>
        <p:sp>
          <p:nvSpPr>
            <p:cNvPr name="TextBox 61" id="61"/>
            <p:cNvSpPr txBox="true"/>
            <p:nvPr/>
          </p:nvSpPr>
          <p:spPr>
            <a:xfrm rot="0">
              <a:off x="0" y="0"/>
              <a:ext cx="2540000" cy="29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b="true" sz="1473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Filtros de Pesquisa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0" y="494315"/>
              <a:ext cx="2540000" cy="146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sz="1473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Implementar filtros avançados por status, orientador, data e palavras-chave para localização rápida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38950" y="6161270"/>
            <a:ext cx="1905000" cy="1685186"/>
            <a:chOff x="0" y="0"/>
            <a:chExt cx="2540000" cy="2246915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0"/>
              <a:ext cx="254000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b="true" sz="1473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Notificações de Prazos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0" y="786415"/>
              <a:ext cx="2540000" cy="146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sz="1473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Alertas automáticos por e-mail e sistema para prazos de atividades e entregas de TCCs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544050" y="5492745"/>
            <a:ext cx="1905000" cy="1685186"/>
            <a:chOff x="0" y="0"/>
            <a:chExt cx="2540000" cy="2246915"/>
          </a:xfrm>
        </p:grpSpPr>
        <p:sp>
          <p:nvSpPr>
            <p:cNvPr name="TextBox 67" id="67"/>
            <p:cNvSpPr txBox="true"/>
            <p:nvPr/>
          </p:nvSpPr>
          <p:spPr>
            <a:xfrm rot="0">
              <a:off x="0" y="0"/>
              <a:ext cx="254000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b="true" sz="1473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Dashboard com Gráficos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0" y="786415"/>
              <a:ext cx="2540000" cy="146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sz="1473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Visualizações gráficas de progresso, status e indicadores de desempenho por período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249150" y="4824221"/>
            <a:ext cx="1905000" cy="1466111"/>
            <a:chOff x="0" y="0"/>
            <a:chExt cx="2540000" cy="1954815"/>
          </a:xfrm>
        </p:grpSpPr>
        <p:sp>
          <p:nvSpPr>
            <p:cNvPr name="TextBox 70" id="70"/>
            <p:cNvSpPr txBox="true"/>
            <p:nvPr/>
          </p:nvSpPr>
          <p:spPr>
            <a:xfrm rot="0">
              <a:off x="0" y="0"/>
              <a:ext cx="254000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b="true" sz="1473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Relatórios Exportáveis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0" y="786415"/>
              <a:ext cx="2540000" cy="1168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sz="1473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Geração de relatórios em PDF e Excel com dados consolidados de TCCs e atividades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954250" y="4155696"/>
            <a:ext cx="1905000" cy="1685186"/>
            <a:chOff x="0" y="0"/>
            <a:chExt cx="2540000" cy="2246915"/>
          </a:xfrm>
        </p:grpSpPr>
        <p:sp>
          <p:nvSpPr>
            <p:cNvPr name="TextBox 73" id="73"/>
            <p:cNvSpPr txBox="true"/>
            <p:nvPr/>
          </p:nvSpPr>
          <p:spPr>
            <a:xfrm rot="0">
              <a:off x="0" y="0"/>
              <a:ext cx="254000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b="true" sz="1473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Controle de Permissões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0" y="786415"/>
              <a:ext cx="2540000" cy="146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67"/>
                </a:lnSpc>
              </a:pPr>
              <a:r>
                <a:rPr lang="en-US" sz="1473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Gestão de perfis de acesso diferenciados para alunos, orientadores e administradores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904911" y="5719078"/>
            <a:ext cx="952679" cy="11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657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652086" y="5050554"/>
            <a:ext cx="952679" cy="11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657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02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315111" y="4382029"/>
            <a:ext cx="952679" cy="11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657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03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978136" y="3713505"/>
            <a:ext cx="952679" cy="11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657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641161" y="3044980"/>
            <a:ext cx="952679" cy="11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657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05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5304185" y="2376456"/>
            <a:ext cx="952679" cy="11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657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531" y="5007496"/>
            <a:ext cx="4391415" cy="2328954"/>
            <a:chOff x="0" y="0"/>
            <a:chExt cx="1498936" cy="794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1177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31177" y="3214265"/>
            <a:ext cx="1524000" cy="15240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9039225"/>
            <a:ext cx="16230600" cy="0"/>
          </a:xfrm>
          <a:prstGeom prst="line">
            <a:avLst/>
          </a:prstGeom>
          <a:ln cap="flat" w="57150">
            <a:solidFill>
              <a:srgbClr val="C1C7D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55052" y="8782050"/>
            <a:ext cx="476250" cy="4762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2777798" y="5007496"/>
            <a:ext cx="4391415" cy="2328954"/>
            <a:chOff x="0" y="0"/>
            <a:chExt cx="1498936" cy="794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30398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211506" y="3214265"/>
            <a:ext cx="1524000" cy="15240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35381" y="8782050"/>
            <a:ext cx="476250" cy="47625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5558128" y="5007496"/>
            <a:ext cx="4391415" cy="2328954"/>
            <a:chOff x="0" y="0"/>
            <a:chExt cx="1498936" cy="7949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995233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9" y="0"/>
                </a:lnTo>
                <a:lnTo>
                  <a:pt x="1695609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991835" y="3214265"/>
            <a:ext cx="1524000" cy="15240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15710" y="8782050"/>
            <a:ext cx="476250" cy="47625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8338457" y="5007496"/>
            <a:ext cx="4391415" cy="2328954"/>
            <a:chOff x="0" y="0"/>
            <a:chExt cx="1498936" cy="7949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768608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9" y="0"/>
                </a:lnTo>
                <a:lnTo>
                  <a:pt x="1695609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772165" y="3214265"/>
            <a:ext cx="1524000" cy="15240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96040" y="8782050"/>
            <a:ext cx="476250" cy="47625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5400000">
            <a:off x="11118786" y="5007496"/>
            <a:ext cx="4391415" cy="2328954"/>
            <a:chOff x="0" y="0"/>
            <a:chExt cx="1498936" cy="7949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552494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2552494" y="3214265"/>
            <a:ext cx="1524000" cy="152400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076369" y="8782050"/>
            <a:ext cx="476250" cy="476250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5400000">
            <a:off x="13899115" y="5007496"/>
            <a:ext cx="4391415" cy="2328954"/>
            <a:chOff x="0" y="0"/>
            <a:chExt cx="1498936" cy="7949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98937" cy="794950"/>
            </a:xfrm>
            <a:custGeom>
              <a:avLst/>
              <a:gdLst/>
              <a:ahLst/>
              <a:cxnLst/>
              <a:rect r="r" b="b" t="t" l="l"/>
              <a:pathLst>
                <a:path h="794950" w="1498937">
                  <a:moveTo>
                    <a:pt x="1295737" y="0"/>
                  </a:moveTo>
                  <a:lnTo>
                    <a:pt x="0" y="0"/>
                  </a:lnTo>
                  <a:lnTo>
                    <a:pt x="0" y="794950"/>
                  </a:lnTo>
                  <a:lnTo>
                    <a:pt x="1295737" y="794950"/>
                  </a:lnTo>
                  <a:lnTo>
                    <a:pt x="1498937" y="397475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384636" cy="82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5332823" y="3214265"/>
            <a:ext cx="1695608" cy="1692525"/>
          </a:xfrm>
          <a:custGeom>
            <a:avLst/>
            <a:gdLst/>
            <a:ahLst/>
            <a:cxnLst/>
            <a:rect r="r" b="b" t="t" l="l"/>
            <a:pathLst>
              <a:path h="1692525" w="1695608">
                <a:moveTo>
                  <a:pt x="0" y="0"/>
                </a:moveTo>
                <a:lnTo>
                  <a:pt x="1695608" y="0"/>
                </a:lnTo>
                <a:lnTo>
                  <a:pt x="1695608" y="1692526"/>
                </a:lnTo>
                <a:lnTo>
                  <a:pt x="0" y="16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5332823" y="3214265"/>
            <a:ext cx="1524000" cy="1524000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856698" y="8782050"/>
            <a:ext cx="476250" cy="476250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4706463" y="3722716"/>
            <a:ext cx="534041" cy="545125"/>
          </a:xfrm>
          <a:custGeom>
            <a:avLst/>
            <a:gdLst/>
            <a:ahLst/>
            <a:cxnLst/>
            <a:rect r="r" b="b" t="t" l="l"/>
            <a:pathLst>
              <a:path h="545125" w="534041">
                <a:moveTo>
                  <a:pt x="0" y="0"/>
                </a:moveTo>
                <a:lnTo>
                  <a:pt x="534041" y="0"/>
                </a:lnTo>
                <a:lnTo>
                  <a:pt x="534041" y="545125"/>
                </a:lnTo>
                <a:lnTo>
                  <a:pt x="0" y="545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7479512" y="3755905"/>
            <a:ext cx="548640" cy="586047"/>
          </a:xfrm>
          <a:custGeom>
            <a:avLst/>
            <a:gdLst/>
            <a:ahLst/>
            <a:cxnLst/>
            <a:rect r="r" b="b" t="t" l="l"/>
            <a:pathLst>
              <a:path h="586047" w="548640">
                <a:moveTo>
                  <a:pt x="0" y="0"/>
                </a:moveTo>
                <a:lnTo>
                  <a:pt x="548640" y="0"/>
                </a:lnTo>
                <a:lnTo>
                  <a:pt x="548640" y="586048"/>
                </a:lnTo>
                <a:lnTo>
                  <a:pt x="0" y="586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0247500" y="3637575"/>
            <a:ext cx="574247" cy="695266"/>
          </a:xfrm>
          <a:custGeom>
            <a:avLst/>
            <a:gdLst/>
            <a:ahLst/>
            <a:cxnLst/>
            <a:rect r="r" b="b" t="t" l="l"/>
            <a:pathLst>
              <a:path h="695266" w="574247">
                <a:moveTo>
                  <a:pt x="0" y="0"/>
                </a:moveTo>
                <a:lnTo>
                  <a:pt x="574247" y="0"/>
                </a:lnTo>
                <a:lnTo>
                  <a:pt x="574247" y="695267"/>
                </a:lnTo>
                <a:lnTo>
                  <a:pt x="0" y="695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786141" y="3638086"/>
            <a:ext cx="713055" cy="640037"/>
          </a:xfrm>
          <a:custGeom>
            <a:avLst/>
            <a:gdLst/>
            <a:ahLst/>
            <a:cxnLst/>
            <a:rect r="r" b="b" t="t" l="l"/>
            <a:pathLst>
              <a:path h="640037" w="713055">
                <a:moveTo>
                  <a:pt x="0" y="0"/>
                </a:moveTo>
                <a:lnTo>
                  <a:pt x="713056" y="0"/>
                </a:lnTo>
                <a:lnTo>
                  <a:pt x="713056" y="640037"/>
                </a:lnTo>
                <a:lnTo>
                  <a:pt x="0" y="64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2933806" y="3837575"/>
            <a:ext cx="749834" cy="382871"/>
          </a:xfrm>
          <a:custGeom>
            <a:avLst/>
            <a:gdLst/>
            <a:ahLst/>
            <a:cxnLst/>
            <a:rect r="r" b="b" t="t" l="l"/>
            <a:pathLst>
              <a:path h="382871" w="749834">
                <a:moveTo>
                  <a:pt x="0" y="0"/>
                </a:moveTo>
                <a:lnTo>
                  <a:pt x="749834" y="0"/>
                </a:lnTo>
                <a:lnTo>
                  <a:pt x="749834" y="382871"/>
                </a:lnTo>
                <a:lnTo>
                  <a:pt x="0" y="3828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5828737" y="3516998"/>
            <a:ext cx="620958" cy="867889"/>
          </a:xfrm>
          <a:custGeom>
            <a:avLst/>
            <a:gdLst/>
            <a:ahLst/>
            <a:cxnLst/>
            <a:rect r="r" b="b" t="t" l="l"/>
            <a:pathLst>
              <a:path h="867889" w="620958">
                <a:moveTo>
                  <a:pt x="0" y="0"/>
                </a:moveTo>
                <a:lnTo>
                  <a:pt x="620958" y="0"/>
                </a:lnTo>
                <a:lnTo>
                  <a:pt x="620958" y="867888"/>
                </a:lnTo>
                <a:lnTo>
                  <a:pt x="0" y="867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028700" y="981075"/>
            <a:ext cx="12253831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CONCLUSÃO – SPRINT 1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8700" y="1694512"/>
            <a:ext cx="12253831" cy="34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9"/>
              </a:lnSpc>
              <a:spcBef>
                <a:spcPct val="0"/>
              </a:spcBef>
            </a:pPr>
            <a:r>
              <a:rPr lang="en-US" sz="1956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Resultados alcançados e próximos passos para o Sistema de Controle de TCC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240677" y="5099109"/>
            <a:ext cx="1905000" cy="1199411"/>
            <a:chOff x="0" y="0"/>
            <a:chExt cx="2540000" cy="1599215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0"/>
              <a:ext cx="2540000" cy="27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Sprint Concluída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0" y="481615"/>
              <a:ext cx="25400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sz="142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Sprint 1 finalizada com sucesso dentro do prazo e escopo definidos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531464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4021006" y="5099109"/>
            <a:ext cx="1905000" cy="1199411"/>
            <a:chOff x="0" y="0"/>
            <a:chExt cx="2540000" cy="1599215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0"/>
              <a:ext cx="2540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Histórias</a:t>
              </a:r>
            </a:p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Entregues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761015"/>
              <a:ext cx="254000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sz="142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3 histórias de usuário implementadas: HU01, HU02 e HU03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4311793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6801335" y="5099109"/>
            <a:ext cx="1905000" cy="1408961"/>
            <a:chOff x="0" y="0"/>
            <a:chExt cx="2540000" cy="1878615"/>
          </a:xfrm>
        </p:grpSpPr>
        <p:sp>
          <p:nvSpPr>
            <p:cNvPr name="TextBox 80" id="80"/>
            <p:cNvSpPr txBox="true"/>
            <p:nvPr/>
          </p:nvSpPr>
          <p:spPr>
            <a:xfrm rot="0">
              <a:off x="0" y="0"/>
              <a:ext cx="2540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MVP</a:t>
              </a:r>
            </a:p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Aprovado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0" y="761015"/>
              <a:ext cx="25400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sz="142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MVP aprovado pelo Product Owner com requisitos plenamente atendidos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7092123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581665" y="5099109"/>
            <a:ext cx="1905000" cy="1618511"/>
            <a:chOff x="0" y="0"/>
            <a:chExt cx="2540000" cy="2158015"/>
          </a:xfrm>
        </p:grpSpPr>
        <p:sp>
          <p:nvSpPr>
            <p:cNvPr name="TextBox 84" id="84"/>
            <p:cNvSpPr txBox="true"/>
            <p:nvPr/>
          </p:nvSpPr>
          <p:spPr>
            <a:xfrm rot="0">
              <a:off x="0" y="0"/>
              <a:ext cx="2540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Qualidade</a:t>
              </a:r>
            </a:p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Validada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0" y="761015"/>
              <a:ext cx="2540000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sz="142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Validações e testes realizados garantindo integridade e confiabilidade do sistema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9872452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361994" y="5099109"/>
            <a:ext cx="1905000" cy="1199411"/>
            <a:chOff x="0" y="0"/>
            <a:chExt cx="2540000" cy="1599215"/>
          </a:xfrm>
        </p:grpSpPr>
        <p:sp>
          <p:nvSpPr>
            <p:cNvPr name="TextBox 88" id="88"/>
            <p:cNvSpPr txBox="true"/>
            <p:nvPr/>
          </p:nvSpPr>
          <p:spPr>
            <a:xfrm rot="0">
              <a:off x="0" y="0"/>
              <a:ext cx="2540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Equipe</a:t>
              </a:r>
            </a:p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Alinhada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0" y="761015"/>
              <a:ext cx="254000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sz="142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Colaboração efetiva da equipe Scrum ao longo de toda a Sprint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2652781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5142323" y="5099109"/>
            <a:ext cx="1905000" cy="1408961"/>
            <a:chOff x="0" y="0"/>
            <a:chExt cx="2540000" cy="1878615"/>
          </a:xfrm>
        </p:grpSpPr>
        <p:sp>
          <p:nvSpPr>
            <p:cNvPr name="TextBox 92" id="92"/>
            <p:cNvSpPr txBox="true"/>
            <p:nvPr/>
          </p:nvSpPr>
          <p:spPr>
            <a:xfrm rot="0">
              <a:off x="0" y="0"/>
              <a:ext cx="2540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Próxima</a:t>
              </a:r>
            </a:p>
            <a:p>
              <a:pPr algn="ctr" marL="0" indent="0" lvl="0">
                <a:lnSpc>
                  <a:spcPts val="1707"/>
                </a:lnSpc>
              </a:pPr>
              <a:r>
                <a:rPr lang="en-US" b="true" sz="142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Sprint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0" y="761015"/>
              <a:ext cx="25400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07"/>
                </a:lnSpc>
              </a:pPr>
              <a:r>
                <a:rPr lang="en-US" sz="142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Backlog refinado e equipe preparada para iniciar a Sprint 2 com novas melhorias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5433110" y="7148254"/>
            <a:ext cx="1323426" cy="52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0416"/>
            <a:ext cx="6629666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PRÓXIMOS PASSOS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05354"/>
            <a:ext cx="6629666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9"/>
              </a:lnSpc>
              <a:spcBef>
                <a:spcPct val="0"/>
              </a:spcBef>
            </a:pPr>
            <a:r>
              <a:rPr lang="en-US" sz="1649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Ações imediatas para dar continuidade ao desenvolvimento do Sistema de Controle de TCC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36637" y="8288711"/>
            <a:ext cx="8449966" cy="945247"/>
            <a:chOff x="0" y="0"/>
            <a:chExt cx="2225505" cy="248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14582" y="8288711"/>
            <a:ext cx="1209936" cy="943610"/>
            <a:chOff x="0" y="0"/>
            <a:chExt cx="540403" cy="4214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66755" y="7971366"/>
            <a:ext cx="915527" cy="1572684"/>
            <a:chOff x="0" y="0"/>
            <a:chExt cx="588238" cy="1010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56568" y="8523210"/>
            <a:ext cx="148294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Planejamento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40235" y="8523210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Definir escopo, metas e histórias de usuário para a próxima Sprint com a equipe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504811" y="6716293"/>
            <a:ext cx="8449966" cy="945247"/>
            <a:chOff x="0" y="0"/>
            <a:chExt cx="2225505" cy="2489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63397" y="6716293"/>
            <a:ext cx="1281368" cy="943610"/>
            <a:chOff x="0" y="0"/>
            <a:chExt cx="572307" cy="4214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307" cy="421452"/>
            </a:xfrm>
            <a:custGeom>
              <a:avLst/>
              <a:gdLst/>
              <a:ahLst/>
              <a:cxnLst/>
              <a:rect r="r" b="b" t="t" l="l"/>
              <a:pathLst>
                <a:path h="421452" w="572307">
                  <a:moveTo>
                    <a:pt x="203200" y="0"/>
                  </a:moveTo>
                  <a:lnTo>
                    <a:pt x="369107" y="0"/>
                  </a:lnTo>
                  <a:lnTo>
                    <a:pt x="572307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-28575"/>
              <a:ext cx="318307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15570" y="6398947"/>
            <a:ext cx="915527" cy="1572684"/>
            <a:chOff x="0" y="0"/>
            <a:chExt cx="588238" cy="1010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005383" y="6950791"/>
            <a:ext cx="193654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Revisão do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Backlog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89050" y="6950791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Repriorizar itens do backlog com base no feedback do Product Owner e melhorias identificadas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272986" y="5143874"/>
            <a:ext cx="8449966" cy="945247"/>
            <a:chOff x="0" y="0"/>
            <a:chExt cx="2225505" cy="2489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12212" y="5143874"/>
            <a:ext cx="1209936" cy="943610"/>
            <a:chOff x="0" y="0"/>
            <a:chExt cx="540403" cy="4214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4385" y="4826528"/>
            <a:ext cx="915527" cy="1572684"/>
            <a:chOff x="0" y="0"/>
            <a:chExt cx="588238" cy="10104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854197" y="5378372"/>
            <a:ext cx="13811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Continuidade do Desenvolvimento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37865" y="5378372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Implementar funcionalidades de edição, exclusão de TCCs e filtros de pesquisa avançada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041160" y="3571455"/>
            <a:ext cx="8449966" cy="945247"/>
            <a:chOff x="0" y="0"/>
            <a:chExt cx="2225505" cy="2489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61027" y="3571455"/>
            <a:ext cx="1281368" cy="943610"/>
            <a:chOff x="0" y="0"/>
            <a:chExt cx="572307" cy="4214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2307" cy="421452"/>
            </a:xfrm>
            <a:custGeom>
              <a:avLst/>
              <a:gdLst/>
              <a:ahLst/>
              <a:cxnLst/>
              <a:rect r="r" b="b" t="t" l="l"/>
              <a:pathLst>
                <a:path h="421452" w="572307">
                  <a:moveTo>
                    <a:pt x="203200" y="0"/>
                  </a:moveTo>
                  <a:lnTo>
                    <a:pt x="369107" y="0"/>
                  </a:lnTo>
                  <a:lnTo>
                    <a:pt x="572307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-28575"/>
              <a:ext cx="318307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13199" y="3254109"/>
            <a:ext cx="915527" cy="1572684"/>
            <a:chOff x="0" y="0"/>
            <a:chExt cx="588238" cy="1010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703012" y="3805953"/>
            <a:ext cx="117228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Testes e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Validação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86680" y="3805953"/>
            <a:ext cx="409446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Executar testes de qualidade e validar as entregas com o Product Owner e stakeholders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809334" y="1999036"/>
            <a:ext cx="8449966" cy="945247"/>
            <a:chOff x="0" y="0"/>
            <a:chExt cx="2225505" cy="2489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809842" y="1999036"/>
            <a:ext cx="1209936" cy="943610"/>
            <a:chOff x="0" y="0"/>
            <a:chExt cx="540403" cy="4214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562014" y="1681691"/>
            <a:ext cx="915527" cy="1572684"/>
            <a:chOff x="0" y="0"/>
            <a:chExt cx="588238" cy="10104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 marL="0" indent="0" lvl="0">
                <a:lnSpc>
                  <a:spcPts val="251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551827" y="2233534"/>
            <a:ext cx="13811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Nova Sprint</a:t>
            </a:r>
          </a:p>
          <a:p>
            <a:pPr algn="l" marL="0" indent="0" lvl="0">
              <a:lnSpc>
                <a:spcPts val="1439"/>
              </a:lnSpc>
            </a:pPr>
            <a:r>
              <a:rPr lang="en-US" b="true" sz="1200">
                <a:solidFill>
                  <a:srgbClr val="3333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Review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935495" y="2233534"/>
            <a:ext cx="38296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Open Sans 1"/>
                <a:ea typeface="Open Sans 1"/>
                <a:cs typeface="Open Sans 1"/>
                <a:sym typeface="Open Sans 1"/>
              </a:rPr>
              <a:t>Preparar apresentação e demonstração das funcionalidades entregues na Sprint 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504811" y="8473362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346804" y="6903166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188798" y="5332970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030791" y="3762774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872784" y="2192578"/>
            <a:ext cx="1011474" cy="52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4273301" cy="1048179"/>
            <a:chOff x="0" y="0"/>
            <a:chExt cx="19031068" cy="139757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19031068" cy="68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6"/>
                </a:lnSpc>
                <a:spcBef>
                  <a:spcPct val="0"/>
                </a:spcBef>
              </a:pPr>
              <a:r>
                <a:rPr lang="en-US" b="true" sz="3197">
                  <a:solidFill>
                    <a:srgbClr val="33333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CONTATO &amp; COLABORAÇÃO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13226"/>
              <a:ext cx="19031068" cy="484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7"/>
                </a:lnSpc>
                <a:spcBef>
                  <a:spcPct val="0"/>
                </a:spcBef>
              </a:pPr>
              <a:r>
                <a:rPr lang="en-US" sz="2198">
                  <a:solidFill>
                    <a:srgbClr val="333333"/>
                  </a:solidFill>
                  <a:latin typeface="Garet"/>
                  <a:ea typeface="Garet"/>
                  <a:cs typeface="Garet"/>
                  <a:sym typeface="Garet"/>
                </a:rPr>
                <a:t>Mantenha comunicação aberta com a equipe Scrum do Sistema de Controle de TCC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2526" y="2672075"/>
            <a:ext cx="7541288" cy="1905000"/>
            <a:chOff x="0" y="0"/>
            <a:chExt cx="10055050" cy="2540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847550" y="0"/>
              <a:ext cx="9207500" cy="2540000"/>
              <a:chOff x="0" y="0"/>
              <a:chExt cx="2825596" cy="7794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25596" cy="779475"/>
              </a:xfrm>
              <a:custGeom>
                <a:avLst/>
                <a:gdLst/>
                <a:ahLst/>
                <a:cxnLst/>
                <a:rect r="r" b="b" t="t" l="l"/>
                <a:pathLst>
                  <a:path h="779475" w="2825596">
                    <a:moveTo>
                      <a:pt x="2622396" y="0"/>
                    </a:moveTo>
                    <a:lnTo>
                      <a:pt x="0" y="0"/>
                    </a:lnTo>
                    <a:lnTo>
                      <a:pt x="0" y="779475"/>
                    </a:lnTo>
                    <a:lnTo>
                      <a:pt x="2622396" y="779475"/>
                    </a:lnTo>
                    <a:lnTo>
                      <a:pt x="2825596" y="389737"/>
                    </a:lnTo>
                    <a:lnTo>
                      <a:pt x="262239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711296" cy="808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0" y="422450"/>
              <a:ext cx="1885975" cy="1882546"/>
            </a:xfrm>
            <a:custGeom>
              <a:avLst/>
              <a:gdLst/>
              <a:ahLst/>
              <a:cxnLst/>
              <a:rect r="r" b="b" t="t" l="l"/>
              <a:pathLst>
                <a:path h="1882546" w="1885975">
                  <a:moveTo>
                    <a:pt x="0" y="0"/>
                  </a:moveTo>
                  <a:lnTo>
                    <a:pt x="1885975" y="0"/>
                  </a:lnTo>
                  <a:lnTo>
                    <a:pt x="1885975" y="1882546"/>
                  </a:lnTo>
                  <a:lnTo>
                    <a:pt x="0" y="1882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422450"/>
              <a:ext cx="1695100" cy="169510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6B58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455657" y="748332"/>
              <a:ext cx="787070" cy="921310"/>
            </a:xfrm>
            <a:custGeom>
              <a:avLst/>
              <a:gdLst/>
              <a:ahLst/>
              <a:cxnLst/>
              <a:rect r="r" b="b" t="t" l="l"/>
              <a:pathLst>
                <a:path h="921310" w="787070">
                  <a:moveTo>
                    <a:pt x="0" y="0"/>
                  </a:moveTo>
                  <a:lnTo>
                    <a:pt x="787070" y="0"/>
                  </a:lnTo>
                  <a:lnTo>
                    <a:pt x="787070" y="921311"/>
                  </a:lnTo>
                  <a:lnTo>
                    <a:pt x="0" y="921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454597" y="748332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Product Owner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454597" y="1268048"/>
              <a:ext cx="5700031" cy="91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4"/>
                </a:lnSpc>
              </a:pPr>
              <a:r>
                <a:rPr lang="en-US" sz="1520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</a:t>
              </a:r>
              <a:r>
                <a:rPr lang="en-US" sz="1520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eticiatgoncalvesdasilva-byte</a:t>
              </a:r>
            </a:p>
            <a:p>
              <a:pPr algn="l">
                <a:lnSpc>
                  <a:spcPts val="1824"/>
                </a:lnSpc>
              </a:pPr>
            </a:p>
            <a:p>
              <a:pPr algn="l" marL="0" indent="0" lvl="0">
                <a:lnSpc>
                  <a:spcPts val="182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2526" y="4979713"/>
            <a:ext cx="7541288" cy="1905000"/>
            <a:chOff x="0" y="0"/>
            <a:chExt cx="10055050" cy="2540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847550" y="0"/>
              <a:ext cx="9207500" cy="2540000"/>
              <a:chOff x="0" y="0"/>
              <a:chExt cx="2825596" cy="77947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825596" cy="779475"/>
              </a:xfrm>
              <a:custGeom>
                <a:avLst/>
                <a:gdLst/>
                <a:ahLst/>
                <a:cxnLst/>
                <a:rect r="r" b="b" t="t" l="l"/>
                <a:pathLst>
                  <a:path h="779475" w="2825596">
                    <a:moveTo>
                      <a:pt x="2622396" y="0"/>
                    </a:moveTo>
                    <a:lnTo>
                      <a:pt x="0" y="0"/>
                    </a:lnTo>
                    <a:lnTo>
                      <a:pt x="0" y="779475"/>
                    </a:lnTo>
                    <a:lnTo>
                      <a:pt x="2622396" y="779475"/>
                    </a:lnTo>
                    <a:lnTo>
                      <a:pt x="2825596" y="389737"/>
                    </a:lnTo>
                    <a:lnTo>
                      <a:pt x="262239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711296" cy="808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0" y="422450"/>
              <a:ext cx="1885975" cy="1882546"/>
            </a:xfrm>
            <a:custGeom>
              <a:avLst/>
              <a:gdLst/>
              <a:ahLst/>
              <a:cxnLst/>
              <a:rect r="r" b="b" t="t" l="l"/>
              <a:pathLst>
                <a:path h="1882546" w="1885975">
                  <a:moveTo>
                    <a:pt x="0" y="0"/>
                  </a:moveTo>
                  <a:lnTo>
                    <a:pt x="1885975" y="0"/>
                  </a:lnTo>
                  <a:lnTo>
                    <a:pt x="1885975" y="1882546"/>
                  </a:lnTo>
                  <a:lnTo>
                    <a:pt x="0" y="1882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422450"/>
              <a:ext cx="1695100" cy="169510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A994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98929" y="873065"/>
              <a:ext cx="1026081" cy="753979"/>
            </a:xfrm>
            <a:custGeom>
              <a:avLst/>
              <a:gdLst/>
              <a:ahLst/>
              <a:cxnLst/>
              <a:rect r="r" b="b" t="t" l="l"/>
              <a:pathLst>
                <a:path h="753979" w="1026081">
                  <a:moveTo>
                    <a:pt x="0" y="0"/>
                  </a:moveTo>
                  <a:lnTo>
                    <a:pt x="1026080" y="0"/>
                  </a:lnTo>
                  <a:lnTo>
                    <a:pt x="1026080" y="753979"/>
                  </a:lnTo>
                  <a:lnTo>
                    <a:pt x="0" y="753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364609" y="717856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Scrum Master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364609" y="1237571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sz="1598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</a:t>
              </a:r>
              <a:r>
                <a:rPr lang="en-US" sz="1598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iovana-82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90659" y="2672075"/>
            <a:ext cx="7541288" cy="1905000"/>
            <a:chOff x="0" y="0"/>
            <a:chExt cx="10055050" cy="2540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847550" y="0"/>
              <a:ext cx="9207500" cy="2540000"/>
              <a:chOff x="0" y="0"/>
              <a:chExt cx="2825596" cy="77947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825596" cy="779475"/>
              </a:xfrm>
              <a:custGeom>
                <a:avLst/>
                <a:gdLst/>
                <a:ahLst/>
                <a:cxnLst/>
                <a:rect r="r" b="b" t="t" l="l"/>
                <a:pathLst>
                  <a:path h="779475" w="2825596">
                    <a:moveTo>
                      <a:pt x="2622396" y="0"/>
                    </a:moveTo>
                    <a:lnTo>
                      <a:pt x="0" y="0"/>
                    </a:lnTo>
                    <a:lnTo>
                      <a:pt x="0" y="779475"/>
                    </a:lnTo>
                    <a:lnTo>
                      <a:pt x="2622396" y="779475"/>
                    </a:lnTo>
                    <a:lnTo>
                      <a:pt x="2825596" y="389737"/>
                    </a:lnTo>
                    <a:lnTo>
                      <a:pt x="262239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2711296" cy="808050"/>
              </a:xfrm>
              <a:prstGeom prst="rect">
                <a:avLst/>
              </a:prstGeom>
            </p:spPr>
            <p:txBody>
              <a:bodyPr anchor="ctr" rtlCol="false" tIns="54072" lIns="54072" bIns="54072" rIns="54072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0" y="422450"/>
              <a:ext cx="1885975" cy="1882546"/>
            </a:xfrm>
            <a:custGeom>
              <a:avLst/>
              <a:gdLst/>
              <a:ahLst/>
              <a:cxnLst/>
              <a:rect r="r" b="b" t="t" l="l"/>
              <a:pathLst>
                <a:path h="1882546" w="1885975">
                  <a:moveTo>
                    <a:pt x="0" y="0"/>
                  </a:moveTo>
                  <a:lnTo>
                    <a:pt x="1885975" y="0"/>
                  </a:lnTo>
                  <a:lnTo>
                    <a:pt x="1885975" y="1882546"/>
                  </a:lnTo>
                  <a:lnTo>
                    <a:pt x="0" y="1882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0" y="422450"/>
              <a:ext cx="1695100" cy="169510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5A8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4072" lIns="54072" bIns="54072" rIns="54072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337624" y="878569"/>
              <a:ext cx="1020251" cy="718727"/>
            </a:xfrm>
            <a:custGeom>
              <a:avLst/>
              <a:gdLst/>
              <a:ahLst/>
              <a:cxnLst/>
              <a:rect r="r" b="b" t="t" l="l"/>
              <a:pathLst>
                <a:path h="718727" w="1020251">
                  <a:moveTo>
                    <a:pt x="0" y="0"/>
                  </a:moveTo>
                  <a:lnTo>
                    <a:pt x="1020251" y="0"/>
                  </a:lnTo>
                  <a:lnTo>
                    <a:pt x="1020251" y="718728"/>
                  </a:lnTo>
                  <a:lnTo>
                    <a:pt x="0" y="718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2364609" y="325307"/>
              <a:ext cx="5630693" cy="298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2"/>
                </a:lnSpc>
              </a:pPr>
              <a:r>
                <a:rPr lang="en-US" b="true" sz="150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Time de Desenvolvimento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364609" y="813569"/>
              <a:ext cx="5630693" cy="152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2"/>
                </a:lnSpc>
              </a:pPr>
              <a:r>
                <a:rPr lang="en-US" sz="1502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ca</a:t>
              </a:r>
              <a:r>
                <a:rPr lang="en-US" sz="1502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pelatiago87@gmail.com</a:t>
              </a:r>
            </a:p>
            <a:p>
              <a:pPr algn="l" marL="0" indent="0" lvl="0">
                <a:lnSpc>
                  <a:spcPts val="1802"/>
                </a:lnSpc>
              </a:pPr>
            </a:p>
            <a:p>
              <a:pPr algn="l" marL="0" indent="0" lvl="0">
                <a:lnSpc>
                  <a:spcPts val="1802"/>
                </a:lnSpc>
              </a:pPr>
              <a:r>
                <a:rPr lang="en-US" sz="1502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Millena0204</a:t>
              </a:r>
            </a:p>
            <a:p>
              <a:pPr algn="l" marL="0" indent="0" lvl="0">
                <a:lnSpc>
                  <a:spcPts val="1802"/>
                </a:lnSpc>
              </a:pPr>
            </a:p>
            <a:p>
              <a:pPr algn="l" marL="0" indent="0" lvl="0">
                <a:lnSpc>
                  <a:spcPts val="1802"/>
                </a:lnSpc>
              </a:pPr>
              <a:r>
                <a:rPr lang="en-US" sz="1502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</a:t>
              </a:r>
              <a:r>
                <a:rPr lang="en-US" sz="1502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hacianyz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540985" y="7475263"/>
            <a:ext cx="7541288" cy="1905000"/>
            <a:chOff x="0" y="0"/>
            <a:chExt cx="10055050" cy="25400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847550" y="0"/>
              <a:ext cx="9207500" cy="2540000"/>
              <a:chOff x="0" y="0"/>
              <a:chExt cx="2825596" cy="77947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825596" cy="779475"/>
              </a:xfrm>
              <a:custGeom>
                <a:avLst/>
                <a:gdLst/>
                <a:ahLst/>
                <a:cxnLst/>
                <a:rect r="r" b="b" t="t" l="l"/>
                <a:pathLst>
                  <a:path h="779475" w="2825596">
                    <a:moveTo>
                      <a:pt x="2622396" y="0"/>
                    </a:moveTo>
                    <a:lnTo>
                      <a:pt x="0" y="0"/>
                    </a:lnTo>
                    <a:lnTo>
                      <a:pt x="0" y="779475"/>
                    </a:lnTo>
                    <a:lnTo>
                      <a:pt x="2622396" y="779475"/>
                    </a:lnTo>
                    <a:lnTo>
                      <a:pt x="2825596" y="389737"/>
                    </a:lnTo>
                    <a:lnTo>
                      <a:pt x="262239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2711296" cy="808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0" y="422450"/>
              <a:ext cx="1885975" cy="1882546"/>
            </a:xfrm>
            <a:custGeom>
              <a:avLst/>
              <a:gdLst/>
              <a:ahLst/>
              <a:cxnLst/>
              <a:rect r="r" b="b" t="t" l="l"/>
              <a:pathLst>
                <a:path h="1882546" w="1885975">
                  <a:moveTo>
                    <a:pt x="0" y="0"/>
                  </a:moveTo>
                  <a:lnTo>
                    <a:pt x="1885975" y="0"/>
                  </a:lnTo>
                  <a:lnTo>
                    <a:pt x="1885975" y="1882546"/>
                  </a:lnTo>
                  <a:lnTo>
                    <a:pt x="0" y="1882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3" id="43"/>
            <p:cNvGrpSpPr/>
            <p:nvPr/>
          </p:nvGrpSpPr>
          <p:grpSpPr>
            <a:xfrm rot="0">
              <a:off x="0" y="422450"/>
              <a:ext cx="1695100" cy="1695100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A0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46" id="46"/>
            <p:cNvSpPr/>
            <p:nvPr/>
          </p:nvSpPr>
          <p:spPr>
            <a:xfrm flipH="false" flipV="false" rot="0">
              <a:off x="440123" y="951209"/>
              <a:ext cx="831212" cy="612152"/>
            </a:xfrm>
            <a:custGeom>
              <a:avLst/>
              <a:gdLst/>
              <a:ahLst/>
              <a:cxnLst/>
              <a:rect r="r" b="b" t="t" l="l"/>
              <a:pathLst>
                <a:path h="612152" w="831212">
                  <a:moveTo>
                    <a:pt x="0" y="0"/>
                  </a:moveTo>
                  <a:lnTo>
                    <a:pt x="831212" y="0"/>
                  </a:lnTo>
                  <a:lnTo>
                    <a:pt x="831212" y="612152"/>
                  </a:lnTo>
                  <a:lnTo>
                    <a:pt x="0" y="612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2364609" y="717856"/>
              <a:ext cx="5993406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b="true" sz="1598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Repositório do Projeto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364609" y="1237571"/>
              <a:ext cx="5993406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8"/>
                </a:lnSpc>
              </a:pPr>
              <a:r>
                <a:rPr lang="en-US" sz="1598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  <a:hlinkClick r:id="rId7" tooltip="https://github.com/Giovana-82/Projeto-SRUM---Sistema-de-controle-de-TCC.git"/>
                </a:rPr>
                <a:t>Código-fonte e documentação disponíveis para consulta e colaboração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206516" y="4979713"/>
            <a:ext cx="7541288" cy="1905000"/>
            <a:chOff x="0" y="0"/>
            <a:chExt cx="10055050" cy="2540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847550" y="0"/>
              <a:ext cx="9207500" cy="2540000"/>
              <a:chOff x="0" y="0"/>
              <a:chExt cx="2825596" cy="779475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825596" cy="779475"/>
              </a:xfrm>
              <a:custGeom>
                <a:avLst/>
                <a:gdLst/>
                <a:ahLst/>
                <a:cxnLst/>
                <a:rect r="r" b="b" t="t" l="l"/>
                <a:pathLst>
                  <a:path h="779475" w="2825596">
                    <a:moveTo>
                      <a:pt x="2622396" y="0"/>
                    </a:moveTo>
                    <a:lnTo>
                      <a:pt x="0" y="0"/>
                    </a:lnTo>
                    <a:lnTo>
                      <a:pt x="0" y="779475"/>
                    </a:lnTo>
                    <a:lnTo>
                      <a:pt x="2622396" y="779475"/>
                    </a:lnTo>
                    <a:lnTo>
                      <a:pt x="2825596" y="389737"/>
                    </a:lnTo>
                    <a:lnTo>
                      <a:pt x="262239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28575"/>
                <a:ext cx="2711296" cy="808050"/>
              </a:xfrm>
              <a:prstGeom prst="rect">
                <a:avLst/>
              </a:prstGeom>
            </p:spPr>
            <p:txBody>
              <a:bodyPr anchor="ctr" rtlCol="false" tIns="54072" lIns="54072" bIns="54072" rIns="54072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53" id="53"/>
            <p:cNvSpPr/>
            <p:nvPr/>
          </p:nvSpPr>
          <p:spPr>
            <a:xfrm flipH="false" flipV="false" rot="0">
              <a:off x="0" y="422450"/>
              <a:ext cx="1885975" cy="1882546"/>
            </a:xfrm>
            <a:custGeom>
              <a:avLst/>
              <a:gdLst/>
              <a:ahLst/>
              <a:cxnLst/>
              <a:rect r="r" b="b" t="t" l="l"/>
              <a:pathLst>
                <a:path h="1882546" w="1885975">
                  <a:moveTo>
                    <a:pt x="0" y="0"/>
                  </a:moveTo>
                  <a:lnTo>
                    <a:pt x="1885975" y="0"/>
                  </a:lnTo>
                  <a:lnTo>
                    <a:pt x="1885975" y="1882546"/>
                  </a:lnTo>
                  <a:lnTo>
                    <a:pt x="0" y="1882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4" id="54"/>
            <p:cNvGrpSpPr/>
            <p:nvPr/>
          </p:nvGrpSpPr>
          <p:grpSpPr>
            <a:xfrm rot="0">
              <a:off x="0" y="422450"/>
              <a:ext cx="1695100" cy="1695100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5A8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4072" lIns="54072" bIns="54072" rIns="54072"/>
              <a:lstStyle/>
              <a:p>
                <a:pPr algn="ctr" marL="0" indent="0" lvl="0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57" id="57"/>
            <p:cNvSpPr/>
            <p:nvPr/>
          </p:nvSpPr>
          <p:spPr>
            <a:xfrm flipH="false" flipV="false" rot="0">
              <a:off x="337624" y="878569"/>
              <a:ext cx="1020251" cy="718727"/>
            </a:xfrm>
            <a:custGeom>
              <a:avLst/>
              <a:gdLst/>
              <a:ahLst/>
              <a:cxnLst/>
              <a:rect r="r" b="b" t="t" l="l"/>
              <a:pathLst>
                <a:path h="718727" w="1020251">
                  <a:moveTo>
                    <a:pt x="0" y="0"/>
                  </a:moveTo>
                  <a:lnTo>
                    <a:pt x="1020251" y="0"/>
                  </a:lnTo>
                  <a:lnTo>
                    <a:pt x="1020251" y="718728"/>
                  </a:lnTo>
                  <a:lnTo>
                    <a:pt x="0" y="718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 rot="0">
              <a:off x="2364609" y="325307"/>
              <a:ext cx="5630693" cy="298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2"/>
                </a:lnSpc>
              </a:pPr>
              <a:r>
                <a:rPr lang="en-US" b="true" sz="1502">
                  <a:solidFill>
                    <a:srgbClr val="333333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QA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2364609" y="813569"/>
              <a:ext cx="5630693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02"/>
                </a:lnSpc>
              </a:pPr>
              <a:r>
                <a:rPr lang="en-US" sz="1502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sof</a:t>
              </a:r>
              <a:r>
                <a:rPr lang="en-US" sz="1502" u="sng">
                  <a:solidFill>
                    <a:srgbClr val="333333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iaabreu17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DAHNHXtHpVA</dc:identifier>
  <dcterms:modified xsi:type="dcterms:W3CDTF">2011-08-01T06:04:30Z</dcterms:modified>
  <cp:revision>1</cp:revision>
  <dc:title>Sistema de Controle de TCC – Sprint 1</dc:title>
</cp:coreProperties>
</file>